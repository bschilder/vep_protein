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78"/>
    <a:srgbClr val="F5BCBA"/>
    <a:srgbClr val="F5BBB9"/>
    <a:srgbClr val="FF2600"/>
    <a:srgbClr val="FF2F92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8" d="100"/>
          <a:sy n="98" d="100"/>
        </p:scale>
        <p:origin x="165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 dirty="0"/>
            <a:t>F </a:t>
          </a:r>
          <a:endParaRPr lang="en-US" dirty="0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 dirty="0"/>
            <a:t>I </a:t>
          </a:r>
          <a:endParaRPr lang="en-US" dirty="0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dirty="0"/>
            <a:t>P</a:t>
          </a:r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F 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 </a:t>
          </a:r>
          <a:endParaRPr lang="en-US" sz="1300" kern="1200" dirty="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</a:t>
          </a:r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96BCE-8436-5E4B-B2EC-45A9B03F3405}" type="datetimeFigureOut">
              <a:rPr lang="en-US" smtClean="0"/>
              <a:t>8/28/25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C098-8491-054D-9A7F-ADED1F8CA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9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7CE5-56C3-16D4-60B8-F93316BE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E55F2-E4DA-D447-2C31-97C613BA5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F9DA6-820D-1248-CAC6-88A83B5BD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a different approach. </a:t>
            </a:r>
          </a:p>
          <a:p>
            <a:endParaRPr lang="en-US" dirty="0"/>
          </a:p>
          <a:p>
            <a:r>
              <a:rPr lang="en-US" dirty="0"/>
              <a:t>Instead of just computing VEP on a single reference sequence, we repeated the VEP procedure on personalized genomes from thousands of individuals to a build distribution of VEPs, and see where the reference falls within that distribution.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4448E-EBA3-2907-60B1-1F74D8261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CE897-EDB9-C040-A1BE-C24B073651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069E-09F6-D18B-6BDA-D19B7A6CF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6282C-757F-10F9-D3DF-5AC905D8E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07C0-EB68-F5D1-7DA4-19CAF7DA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C2D0D-37BB-D742-D1AB-CC7ED350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803B-B0EE-48A0-DB09-303AEFB6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3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D2F2-2B48-C510-28F0-FC10D201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BD42-28FF-42E5-054F-6FF2CA7D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5027-55D6-9BFF-F549-008B16E8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80C34-7544-E64C-D1F4-82A7BE4F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22A2-5AC5-9179-8B40-F47EEFB1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082B-D888-793E-EF7C-B0758637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D368-9A9E-2AB3-8809-4C8AD9FCF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9561D-376B-7300-770B-5A919194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8CC53-2C4D-984B-C08E-EA39A6F7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125F-9EF0-0505-3B65-5E4983F4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7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5F6C-B738-D6D1-C167-FFFDF313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7EC9E-DFDA-86E7-0B11-C5F000981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3AC26-5A96-A597-E4EF-61FD1629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34C11-4C35-84BA-4789-EA582308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C7C6E-437F-B768-956D-A86DBBF0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0ED50-8682-AAE5-EBCE-E4FAA3E1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32A5-3865-D270-F77B-B2961D7E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2340C-F184-631F-0935-315A576D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5407F-DBE4-7AC1-E721-688721F3D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B680-6DD9-608A-C6F4-2F9F5884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A3F828-58FF-CB62-5404-834BEDBCD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BE0CD-6510-9A12-1E28-0F0A3F6F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98264-3F30-7228-2D92-8D8511DF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35186-506E-41C0-7A4A-4F9619D3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7C2A-DBBF-810C-A38B-FD391A84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F6304-7A83-AE0C-B571-8854B8F1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4AE8D-80B2-3BC6-BE01-C9B912C6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25348-4391-60E3-C7ED-C95756FE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0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309BE-DFE9-795B-2063-B91CBFFA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7B9A-261C-05CD-DE77-80BF3B60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2319-9755-CD80-EF78-6D3EA03C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8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5141-C644-3EE4-E32A-10893201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940E-989F-7D5A-B2A1-16DA12BEC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22E33-4474-E59C-3F88-3CF7A66AB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6B51F-1B90-E1FE-A9D4-10203374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8FD15-B317-07AE-CC50-FC9FAB4A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99A39-BAB8-73DB-AADF-CF4A1182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7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9B3B-E5F0-AEF1-5895-FB3912CA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87646-0382-53D7-B608-AB01D43BA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0C90A-21EB-CA32-8F2F-8E2560FDE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0A9D6-EDDA-A8FA-1D0C-70882856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85E23-1ED4-0EC8-64DA-17440AF8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46B8-C76B-77E1-E960-8AE672C2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99F7-3D92-3EC0-3E60-3FF366F4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B494-772D-42D8-9ED0-BC05CF06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CC12-0709-70E8-D76D-8ACD3043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F864-64F4-2232-2941-05103F00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6396-C810-51E2-8724-BEF5F9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D7B03-F965-B019-4D1A-AECC08C30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AB2B7-468D-B3AC-E742-26EA8F721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EA7B-F351-5339-9DB3-B3D8A63F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EEF3-32D4-9D67-062D-BEFF74A5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0300-2265-8572-CA48-44D10790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50179-A2CD-E2AF-5688-F7BCC77C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91BA-8EED-7124-3705-2EC224406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4F4D8-8332-CFCB-ADC8-32486A16F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51A73-5757-9E4F-9CE4-87C840708D9E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22E3-B919-2AF3-2399-992E099CF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C352-C092-D037-4516-43977D32F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26" Type="http://schemas.openxmlformats.org/officeDocument/2006/relationships/diagramColors" Target="../diagrams/colors4.xml"/><Relationship Id="rId39" Type="http://schemas.openxmlformats.org/officeDocument/2006/relationships/diagramLayout" Target="../diagrams/layout7.xml"/><Relationship Id="rId21" Type="http://schemas.openxmlformats.org/officeDocument/2006/relationships/image" Target="../media/image4.png"/><Relationship Id="rId34" Type="http://schemas.openxmlformats.org/officeDocument/2006/relationships/diagramLayout" Target="../diagrams/layout6.xml"/><Relationship Id="rId42" Type="http://schemas.microsoft.com/office/2007/relationships/diagramDrawing" Target="../diagrams/drawing7.xml"/><Relationship Id="rId47" Type="http://schemas.microsoft.com/office/2007/relationships/diagramDrawing" Target="../diagrams/drawing8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3.xml"/><Relationship Id="rId29" Type="http://schemas.openxmlformats.org/officeDocument/2006/relationships/diagramLayout" Target="../diagrams/layout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24" Type="http://schemas.openxmlformats.org/officeDocument/2006/relationships/diagramLayout" Target="../diagrams/layout4.xml"/><Relationship Id="rId32" Type="http://schemas.microsoft.com/office/2007/relationships/diagramDrawing" Target="../diagrams/drawing5.xml"/><Relationship Id="rId37" Type="http://schemas.microsoft.com/office/2007/relationships/diagramDrawing" Target="../diagrams/drawing6.xml"/><Relationship Id="rId40" Type="http://schemas.openxmlformats.org/officeDocument/2006/relationships/diagramQuickStyle" Target="../diagrams/quickStyle7.xml"/><Relationship Id="rId45" Type="http://schemas.openxmlformats.org/officeDocument/2006/relationships/diagramQuickStyle" Target="../diagrams/quickStyle8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openxmlformats.org/officeDocument/2006/relationships/diagramData" Target="../diagrams/data4.xml"/><Relationship Id="rId28" Type="http://schemas.openxmlformats.org/officeDocument/2006/relationships/diagramData" Target="../diagrams/data5.xml"/><Relationship Id="rId36" Type="http://schemas.openxmlformats.org/officeDocument/2006/relationships/diagramColors" Target="../diagrams/colors6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2.png"/><Relationship Id="rId31" Type="http://schemas.openxmlformats.org/officeDocument/2006/relationships/diagramColors" Target="../diagrams/colors5.xml"/><Relationship Id="rId44" Type="http://schemas.openxmlformats.org/officeDocument/2006/relationships/diagramLayout" Target="../diagrams/layout8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image" Target="../media/image5.svg"/><Relationship Id="rId27" Type="http://schemas.microsoft.com/office/2007/relationships/diagramDrawing" Target="../diagrams/drawing4.xml"/><Relationship Id="rId30" Type="http://schemas.openxmlformats.org/officeDocument/2006/relationships/diagramQuickStyle" Target="../diagrams/quickStyle5.xml"/><Relationship Id="rId35" Type="http://schemas.openxmlformats.org/officeDocument/2006/relationships/diagramQuickStyle" Target="../diagrams/quickStyle6.xml"/><Relationship Id="rId43" Type="http://schemas.openxmlformats.org/officeDocument/2006/relationships/diagramData" Target="../diagrams/data8.xml"/><Relationship Id="rId48" Type="http://schemas.openxmlformats.org/officeDocument/2006/relationships/image" Target="../media/image6.png"/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5" Type="http://schemas.openxmlformats.org/officeDocument/2006/relationships/diagramQuickStyle" Target="../diagrams/quickStyle4.xml"/><Relationship Id="rId33" Type="http://schemas.openxmlformats.org/officeDocument/2006/relationships/diagramData" Target="../diagrams/data6.xml"/><Relationship Id="rId38" Type="http://schemas.openxmlformats.org/officeDocument/2006/relationships/diagramData" Target="../diagrams/data7.xml"/><Relationship Id="rId46" Type="http://schemas.openxmlformats.org/officeDocument/2006/relationships/diagramColors" Target="../diagrams/colors8.xml"/><Relationship Id="rId20" Type="http://schemas.openxmlformats.org/officeDocument/2006/relationships/image" Target="../media/image3.svg"/><Relationship Id="rId41" Type="http://schemas.openxmlformats.org/officeDocument/2006/relationships/diagramColors" Target="../diagrams/colors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4B8D-4522-2CC1-3942-D2C6D85A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blue and yellow spirals&#10;&#10;AI-generated content may be incorrect.">
            <a:extLst>
              <a:ext uri="{FF2B5EF4-FFF2-40B4-BE49-F238E27FC236}">
                <a16:creationId xmlns:a16="http://schemas.microsoft.com/office/drawing/2014/main" id="{7FE3E4ED-8283-1541-9EDC-EB37F28CC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5871" y="522640"/>
            <a:ext cx="1245273" cy="1882020"/>
          </a:xfrm>
          <a:prstGeom prst="rect">
            <a:avLst/>
          </a:prstGeom>
        </p:spPr>
      </p:pic>
      <p:sp>
        <p:nvSpPr>
          <p:cNvPr id="7" name="Bent-Up Arrow 6">
            <a:extLst>
              <a:ext uri="{FF2B5EF4-FFF2-40B4-BE49-F238E27FC236}">
                <a16:creationId xmlns:a16="http://schemas.microsoft.com/office/drawing/2014/main" id="{29772DCB-D9B5-FFB3-5F40-D1E7EA8DD08C}"/>
              </a:ext>
            </a:extLst>
          </p:cNvPr>
          <p:cNvSpPr/>
          <p:nvPr/>
        </p:nvSpPr>
        <p:spPr>
          <a:xfrm rot="16200000" flipV="1">
            <a:off x="7517866" y="1127159"/>
            <a:ext cx="1324633" cy="44610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56205C93-5514-4195-435B-B600C0D32993}"/>
              </a:ext>
            </a:extLst>
          </p:cNvPr>
          <p:cNvSpPr/>
          <p:nvPr/>
        </p:nvSpPr>
        <p:spPr>
          <a:xfrm rot="5400000">
            <a:off x="7220266" y="1270321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862D10-6BAB-3B93-718E-3CCE8B70AC5A}"/>
              </a:ext>
            </a:extLst>
          </p:cNvPr>
          <p:cNvGrpSpPr/>
          <p:nvPr/>
        </p:nvGrpSpPr>
        <p:grpSpPr>
          <a:xfrm>
            <a:off x="4329410" y="2840458"/>
            <a:ext cx="605098" cy="1058230"/>
            <a:chOff x="5797583" y="4462381"/>
            <a:chExt cx="748923" cy="10582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C1C3A7-CCB1-9DBE-738E-B838B880E76A}"/>
                </a:ext>
              </a:extLst>
            </p:cNvPr>
            <p:cNvSpPr txBox="1"/>
            <p:nvPr/>
          </p:nvSpPr>
          <p:spPr>
            <a:xfrm>
              <a:off x="5797583" y="4831882"/>
              <a:ext cx="748923" cy="357545"/>
            </a:xfrm>
            <a:prstGeom prst="roundRect">
              <a:avLst/>
            </a:prstGeom>
            <a:solidFill>
              <a:srgbClr val="FF2600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4L&gt;P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91573C-05F1-B8CD-FE41-9948777911BC}"/>
                </a:ext>
              </a:extLst>
            </p:cNvPr>
            <p:cNvSpPr txBox="1"/>
            <p:nvPr/>
          </p:nvSpPr>
          <p:spPr>
            <a:xfrm>
              <a:off x="6002767" y="44623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+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99A5F5-DC8F-B925-C6F7-B85BD6C02F6C}"/>
                </a:ext>
              </a:extLst>
            </p:cNvPr>
            <p:cNvSpPr txBox="1"/>
            <p:nvPr/>
          </p:nvSpPr>
          <p:spPr>
            <a:xfrm rot="5400000">
              <a:off x="6113367" y="5185903"/>
              <a:ext cx="300082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=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74AF5-1D24-4669-5C56-B2C831D36DF5}"/>
              </a:ext>
            </a:extLst>
          </p:cNvPr>
          <p:cNvSpPr/>
          <p:nvPr/>
        </p:nvSpPr>
        <p:spPr>
          <a:xfrm>
            <a:off x="157649" y="527116"/>
            <a:ext cx="7791044" cy="2351369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Wildtype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4B058-6075-3300-E4FE-A813F4989CC7}"/>
              </a:ext>
            </a:extLst>
          </p:cNvPr>
          <p:cNvSpPr/>
          <p:nvPr/>
        </p:nvSpPr>
        <p:spPr>
          <a:xfrm>
            <a:off x="1346740" y="773788"/>
            <a:ext cx="6525321" cy="399693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8B897D-CF17-DC90-AC62-8D60B7E34E29}"/>
              </a:ext>
            </a:extLst>
          </p:cNvPr>
          <p:cNvSpPr/>
          <p:nvPr/>
        </p:nvSpPr>
        <p:spPr>
          <a:xfrm>
            <a:off x="1346740" y="1253905"/>
            <a:ext cx="6525321" cy="1477446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44745B12-29B4-0D90-5FA8-B4E8412FF1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635556"/>
              </p:ext>
            </p:extLst>
          </p:nvPr>
        </p:nvGraphicFramePr>
        <p:xfrm>
          <a:off x="2982439" y="82516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B63CB79-1604-43B9-A42E-BA9F2F0B6D0C}"/>
              </a:ext>
            </a:extLst>
          </p:cNvPr>
          <p:cNvSpPr txBox="1"/>
          <p:nvPr/>
        </p:nvSpPr>
        <p:spPr>
          <a:xfrm>
            <a:off x="3487870" y="3059313"/>
            <a:ext cx="134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</a:p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Variant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3D72AF9-25E1-61AD-1025-1BF568D17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255434"/>
              </p:ext>
            </p:extLst>
          </p:nvPr>
        </p:nvGraphicFramePr>
        <p:xfrm>
          <a:off x="2993505" y="1694214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99B509A-D366-3C8C-E6D5-50E57E12E1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102092"/>
              </p:ext>
            </p:extLst>
          </p:nvPr>
        </p:nvGraphicFramePr>
        <p:xfrm>
          <a:off x="2993505" y="1379481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23" name="Graphic 22" descr="Group of people with solid fill">
            <a:extLst>
              <a:ext uri="{FF2B5EF4-FFF2-40B4-BE49-F238E27FC236}">
                <a16:creationId xmlns:a16="http://schemas.microsoft.com/office/drawing/2014/main" id="{6D65753E-AEBC-CA42-5066-A1F3B039CD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44607" y="1565755"/>
            <a:ext cx="1047931" cy="1047931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704A2902-44A3-66E7-C8CA-2F5802D59D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41762" y="825168"/>
            <a:ext cx="291042" cy="291042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F44EB30-55D4-4172-F0D7-4FDEABFF2F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314166"/>
              </p:ext>
            </p:extLst>
          </p:nvPr>
        </p:nvGraphicFramePr>
        <p:xfrm>
          <a:off x="2993505" y="2377920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3563C0A-361A-9F98-0FBA-78D7479F590D}"/>
              </a:ext>
            </a:extLst>
          </p:cNvPr>
          <p:cNvSpPr txBox="1"/>
          <p:nvPr/>
        </p:nvSpPr>
        <p:spPr>
          <a:xfrm>
            <a:off x="4576431" y="1684338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28" name="Lightning Bolt 27">
            <a:extLst>
              <a:ext uri="{FF2B5EF4-FFF2-40B4-BE49-F238E27FC236}">
                <a16:creationId xmlns:a16="http://schemas.microsoft.com/office/drawing/2014/main" id="{70D15BBF-706C-D801-2992-574F4CE608F0}"/>
              </a:ext>
            </a:extLst>
          </p:cNvPr>
          <p:cNvSpPr/>
          <p:nvPr/>
        </p:nvSpPr>
        <p:spPr>
          <a:xfrm flipH="1">
            <a:off x="4962053" y="2968679"/>
            <a:ext cx="422196" cy="478945"/>
          </a:xfrm>
          <a:prstGeom prst="lightningBolt">
            <a:avLst/>
          </a:prstGeom>
          <a:solidFill>
            <a:srgbClr val="FF7E79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F0BCE2-A05C-FA5E-5F8E-10D7D4351E79}"/>
              </a:ext>
            </a:extLst>
          </p:cNvPr>
          <p:cNvSpPr/>
          <p:nvPr/>
        </p:nvSpPr>
        <p:spPr>
          <a:xfrm>
            <a:off x="157649" y="3951495"/>
            <a:ext cx="7791044" cy="2351369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Mutated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(MUT)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053BB0-3ABC-917B-FE14-8A2F5044950A}"/>
              </a:ext>
            </a:extLst>
          </p:cNvPr>
          <p:cNvSpPr/>
          <p:nvPr/>
        </p:nvSpPr>
        <p:spPr>
          <a:xfrm>
            <a:off x="1346740" y="4640514"/>
            <a:ext cx="6525321" cy="1477446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891A8B-F7C3-EFA7-977A-8FE25F2DE637}"/>
              </a:ext>
            </a:extLst>
          </p:cNvPr>
          <p:cNvSpPr/>
          <p:nvPr/>
        </p:nvSpPr>
        <p:spPr>
          <a:xfrm>
            <a:off x="1346740" y="4160397"/>
            <a:ext cx="6525321" cy="399693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7034310F-EE5E-08EC-A762-8669D71D10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007394"/>
              </p:ext>
            </p:extLst>
          </p:nvPr>
        </p:nvGraphicFramePr>
        <p:xfrm>
          <a:off x="2982439" y="4211777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6FF8BC58-E422-65FD-0FCE-F7C5DED66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028455"/>
              </p:ext>
            </p:extLst>
          </p:nvPr>
        </p:nvGraphicFramePr>
        <p:xfrm>
          <a:off x="2988126" y="512518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FB040729-801F-840E-A213-B04AE7DFE6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683334"/>
              </p:ext>
            </p:extLst>
          </p:nvPr>
        </p:nvGraphicFramePr>
        <p:xfrm>
          <a:off x="2988126" y="4810455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8" r:lo="rId39" r:qs="rId40" r:cs="rId41"/>
          </a:graphicData>
        </a:graphic>
      </p:graphicFrame>
      <p:pic>
        <p:nvPicPr>
          <p:cNvPr id="35" name="Graphic 34" descr="Group of people with solid fill">
            <a:extLst>
              <a:ext uri="{FF2B5EF4-FFF2-40B4-BE49-F238E27FC236}">
                <a16:creationId xmlns:a16="http://schemas.microsoft.com/office/drawing/2014/main" id="{007642C5-9657-D40D-1313-306A8CFE95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44607" y="4952364"/>
            <a:ext cx="1047931" cy="1047931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AE78F6D1-89C1-5FC8-60D6-17BDA6D0B17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41762" y="4211777"/>
            <a:ext cx="291042" cy="291042"/>
          </a:xfrm>
          <a:prstGeom prst="rect">
            <a:avLst/>
          </a:prstGeom>
        </p:spPr>
      </p:pic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EEB3A55A-F362-2409-9A00-385064778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637667"/>
              </p:ext>
            </p:extLst>
          </p:nvPr>
        </p:nvGraphicFramePr>
        <p:xfrm>
          <a:off x="2993505" y="5779262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3" r:lo="rId44" r:qs="rId45" r:cs="rId46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F039F69-B433-3249-30F9-1B046C2046F6}"/>
              </a:ext>
            </a:extLst>
          </p:cNvPr>
          <p:cNvSpPr txBox="1"/>
          <p:nvPr/>
        </p:nvSpPr>
        <p:spPr>
          <a:xfrm>
            <a:off x="4576431" y="5083899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E4009C-9267-B2C2-4668-5B02A9E44A6A}"/>
              </a:ext>
            </a:extLst>
          </p:cNvPr>
          <p:cNvSpPr txBox="1"/>
          <p:nvPr/>
        </p:nvSpPr>
        <p:spPr>
          <a:xfrm>
            <a:off x="11901929" y="4132178"/>
            <a:ext cx="11892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VEP Distribution</a:t>
            </a: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8298711F-3110-99CB-54D4-E058DC998FB3}"/>
              </a:ext>
            </a:extLst>
          </p:cNvPr>
          <p:cNvSpPr/>
          <p:nvPr/>
        </p:nvSpPr>
        <p:spPr>
          <a:xfrm rot="5400000">
            <a:off x="7211828" y="4690165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E41D0BDD-7D11-A91D-CF36-B55A7BED8727}"/>
              </a:ext>
            </a:extLst>
          </p:cNvPr>
          <p:cNvSpPr/>
          <p:nvPr/>
        </p:nvSpPr>
        <p:spPr>
          <a:xfrm>
            <a:off x="8407469" y="543326"/>
            <a:ext cx="1519228" cy="457956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AlphaFold</a:t>
            </a:r>
          </a:p>
        </p:txBody>
      </p:sp>
      <p:sp>
        <p:nvSpPr>
          <p:cNvPr id="48" name="Triangle 47">
            <a:extLst>
              <a:ext uri="{FF2B5EF4-FFF2-40B4-BE49-F238E27FC236}">
                <a16:creationId xmlns:a16="http://schemas.microsoft.com/office/drawing/2014/main" id="{8EAA2C0D-4EDC-079A-E2D1-B4FA6E08EE31}"/>
              </a:ext>
            </a:extLst>
          </p:cNvPr>
          <p:cNvSpPr/>
          <p:nvPr/>
        </p:nvSpPr>
        <p:spPr>
          <a:xfrm rot="5400000">
            <a:off x="7211802" y="1272127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1086924A-CD8E-CB5F-940E-CDAB0DD9AEC5}"/>
              </a:ext>
            </a:extLst>
          </p:cNvPr>
          <p:cNvSpPr/>
          <p:nvPr/>
        </p:nvSpPr>
        <p:spPr>
          <a:xfrm>
            <a:off x="8479869" y="2602531"/>
            <a:ext cx="1519228" cy="1477585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Protein Language Model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DE4C4C3-B347-58EF-4765-B5467D1985A2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901928" y="2846664"/>
            <a:ext cx="1189216" cy="1189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5B32A9A-B416-6B06-0EDF-F68C01A61D88}"/>
              </a:ext>
            </a:extLst>
          </p:cNvPr>
          <p:cNvSpPr/>
          <p:nvPr/>
        </p:nvSpPr>
        <p:spPr>
          <a:xfrm>
            <a:off x="9746425" y="2904273"/>
            <a:ext cx="902268" cy="429220"/>
          </a:xfrm>
          <a:prstGeom prst="rect">
            <a:avLst/>
          </a:prstGeom>
          <a:solidFill>
            <a:srgbClr val="7675E5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4B4D4C-388E-BB8A-9EC0-D664222D6795}"/>
              </a:ext>
            </a:extLst>
          </p:cNvPr>
          <p:cNvSpPr/>
          <p:nvPr/>
        </p:nvSpPr>
        <p:spPr>
          <a:xfrm>
            <a:off x="9750371" y="3554918"/>
            <a:ext cx="907670" cy="429220"/>
          </a:xfrm>
          <a:prstGeom prst="rect">
            <a:avLst/>
          </a:prstGeom>
          <a:solidFill>
            <a:srgbClr val="EA7978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88AFA-5914-C8B6-BE9F-11F659AE31E8}"/>
              </a:ext>
            </a:extLst>
          </p:cNvPr>
          <p:cNvSpPr txBox="1"/>
          <p:nvPr/>
        </p:nvSpPr>
        <p:spPr>
          <a:xfrm>
            <a:off x="9992503" y="3259574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B7539D-4798-69B3-9114-256EF63DC4E0}"/>
              </a:ext>
            </a:extLst>
          </p:cNvPr>
          <p:cNvCxnSpPr>
            <a:cxnSpLocks/>
          </p:cNvCxnSpPr>
          <p:nvPr/>
        </p:nvCxnSpPr>
        <p:spPr>
          <a:xfrm flipH="1">
            <a:off x="12350948" y="2968679"/>
            <a:ext cx="30682" cy="850666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02580F1-AF95-17B4-2CB8-EFCDE9AB7C75}"/>
              </a:ext>
            </a:extLst>
          </p:cNvPr>
          <p:cNvSpPr txBox="1"/>
          <p:nvPr/>
        </p:nvSpPr>
        <p:spPr>
          <a:xfrm rot="16200000">
            <a:off x="11960505" y="2821277"/>
            <a:ext cx="649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77244C92-C50C-1DD1-B1DA-838B590149AD}"/>
              </a:ext>
            </a:extLst>
          </p:cNvPr>
          <p:cNvSpPr/>
          <p:nvPr/>
        </p:nvSpPr>
        <p:spPr>
          <a:xfrm>
            <a:off x="10595879" y="2898408"/>
            <a:ext cx="1362035" cy="108573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VEPs</a:t>
            </a:r>
          </a:p>
        </p:txBody>
      </p:sp>
      <p:sp>
        <p:nvSpPr>
          <p:cNvPr id="15" name="Bent-Up Arrow 14">
            <a:extLst>
              <a:ext uri="{FF2B5EF4-FFF2-40B4-BE49-F238E27FC236}">
                <a16:creationId xmlns:a16="http://schemas.microsoft.com/office/drawing/2014/main" id="{4CED57E4-FFB5-E315-32D5-E4539FA5368B}"/>
              </a:ext>
            </a:extLst>
          </p:cNvPr>
          <p:cNvSpPr/>
          <p:nvPr/>
        </p:nvSpPr>
        <p:spPr>
          <a:xfrm>
            <a:off x="7991455" y="4080116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Bent-Up Arrow 54">
            <a:extLst>
              <a:ext uri="{FF2B5EF4-FFF2-40B4-BE49-F238E27FC236}">
                <a16:creationId xmlns:a16="http://schemas.microsoft.com/office/drawing/2014/main" id="{4B4ED90D-EDF6-ACF7-A6D8-130B8BE44955}"/>
              </a:ext>
            </a:extLst>
          </p:cNvPr>
          <p:cNvSpPr/>
          <p:nvPr/>
        </p:nvSpPr>
        <p:spPr>
          <a:xfrm flipV="1">
            <a:off x="8002948" y="1518927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B86138DD-90EB-4D95-0B26-DF568191D59C}"/>
              </a:ext>
            </a:extLst>
          </p:cNvPr>
          <p:cNvSpPr/>
          <p:nvPr/>
        </p:nvSpPr>
        <p:spPr>
          <a:xfrm>
            <a:off x="9856658" y="612302"/>
            <a:ext cx="2045270" cy="397043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 Structures</a:t>
            </a:r>
          </a:p>
        </p:txBody>
      </p:sp>
    </p:spTree>
    <p:extLst>
      <p:ext uri="{BB962C8B-B14F-4D97-AF65-F5344CB8AC3E}">
        <p14:creationId xmlns:p14="http://schemas.microsoft.com/office/powerpoint/2010/main" val="68115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178</Words>
  <Application>Microsoft Macintosh PowerPoint</Application>
  <PresentationFormat>Widescreen</PresentationFormat>
  <Paragraphs>113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Schilder, Brian</dc:creator>
  <cp:lastModifiedBy>Schilder, Brian</cp:lastModifiedBy>
  <cp:revision>5</cp:revision>
  <dcterms:created xsi:type="dcterms:W3CDTF">2025-08-17T22:31:53Z</dcterms:created>
  <dcterms:modified xsi:type="dcterms:W3CDTF">2025-08-28T14:06:13Z</dcterms:modified>
</cp:coreProperties>
</file>