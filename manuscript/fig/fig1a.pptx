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342" r:id="rId2"/>
    <p:sldId id="343" r:id="rId3"/>
    <p:sldId id="34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75E6"/>
    <a:srgbClr val="EA7978"/>
    <a:srgbClr val="F5BCBA"/>
    <a:srgbClr val="F5BBB9"/>
    <a:srgbClr val="FF2600"/>
    <a:srgbClr val="FF2F92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02" d="100"/>
          <a:sy n="102" d="100"/>
        </p:scale>
        <p:origin x="149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/>
            <a:t>T </a:t>
          </a:r>
          <a:endParaRPr lang="en-US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/>
      <dgm:t>
        <a:bodyPr/>
        <a:lstStyle/>
        <a:p>
          <a:r>
            <a:rPr lang="en-US" b="0" i="0"/>
            <a:t>V </a:t>
          </a:r>
          <a:endParaRPr lang="en-US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 dirty="0"/>
            <a:t>I</a:t>
          </a:r>
          <a:endParaRPr lang="en-US" dirty="0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/>
      <dgm:t>
        <a:bodyPr/>
        <a:lstStyle/>
        <a:p>
          <a:r>
            <a:rPr lang="en-US" b="0" i="0" dirty="0"/>
            <a:t>L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/>
            <a:t>T </a:t>
          </a:r>
          <a:endParaRPr lang="en-US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G </a:t>
          </a:r>
          <a:endParaRPr lang="en-US" dirty="0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5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 dirty="0"/>
            <a:t>M </a:t>
          </a:r>
          <a:endParaRPr lang="en-US" dirty="0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 dirty="0"/>
            <a:t>L </a:t>
          </a:r>
          <a:endParaRPr lang="en-US" dirty="0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/>
      <dgm:t>
        <a:bodyPr/>
        <a:lstStyle/>
        <a:p>
          <a:r>
            <a:rPr lang="en-US" b="0" i="0"/>
            <a:t>V </a:t>
          </a:r>
          <a:endParaRPr lang="en-US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 -</a:t>
          </a:r>
          <a:endParaRPr lang="en-US" dirty="0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20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/>
      <dgm:t>
        <a:bodyPr/>
        <a:lstStyle/>
        <a:p>
          <a:r>
            <a:rPr lang="en-US" b="0" i="0" dirty="0"/>
            <a:t>L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b="0" i="0" dirty="0"/>
            <a:t>V </a:t>
          </a:r>
          <a:endParaRPr lang="en-US" dirty="0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Q </a:t>
          </a:r>
          <a:endParaRPr lang="en-US" dirty="0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2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>
        <a:solidFill>
          <a:srgbClr val="FF2600"/>
        </a:solidFill>
      </dgm:spPr>
      <dgm:t>
        <a:bodyPr/>
        <a:lstStyle/>
        <a:p>
          <a:r>
            <a:rPr lang="en-US" b="0" i="0" dirty="0"/>
            <a:t>P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 dirty="0"/>
            <a:t>F </a:t>
          </a:r>
          <a:endParaRPr lang="en-US" dirty="0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/>
            <a:t>T </a:t>
          </a:r>
          <a:endParaRPr lang="en-US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/>
      <dgm:t>
        <a:bodyPr/>
        <a:lstStyle/>
        <a:p>
          <a:r>
            <a:rPr lang="en-US" b="0" i="0"/>
            <a:t>V </a:t>
          </a:r>
          <a:endParaRPr lang="en-US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 dirty="0"/>
            <a:t>I</a:t>
          </a:r>
          <a:endParaRPr lang="en-US" dirty="0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34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 dirty="0"/>
            <a:t>I </a:t>
          </a:r>
          <a:endParaRPr lang="en-US" dirty="0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>
        <a:solidFill>
          <a:srgbClr val="FF2600"/>
        </a:solidFill>
      </dgm:spPr>
      <dgm:t>
        <a:bodyPr/>
        <a:lstStyle/>
        <a:p>
          <a:r>
            <a:rPr lang="en-US" dirty="0"/>
            <a:t>P</a:t>
          </a:r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/>
            <a:t>T </a:t>
          </a:r>
          <a:endParaRPr lang="en-US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G </a:t>
          </a:r>
          <a:endParaRPr lang="en-US" dirty="0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39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 dirty="0"/>
            <a:t>M </a:t>
          </a:r>
          <a:endParaRPr lang="en-US" dirty="0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>
        <a:solidFill>
          <a:srgbClr val="FF2600"/>
        </a:solidFill>
      </dgm:spPr>
      <dgm:t>
        <a:bodyPr/>
        <a:lstStyle/>
        <a:p>
          <a:r>
            <a:rPr lang="en-US" b="0" i="0" dirty="0"/>
            <a:t>P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 dirty="0"/>
            <a:t>L </a:t>
          </a:r>
          <a:endParaRPr lang="en-US" dirty="0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/>
      <dgm:t>
        <a:bodyPr/>
        <a:lstStyle/>
        <a:p>
          <a:r>
            <a:rPr lang="en-US" b="0" i="0"/>
            <a:t>V </a:t>
          </a:r>
          <a:endParaRPr lang="en-US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 -</a:t>
          </a:r>
          <a:endParaRPr lang="en-US" dirty="0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44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>
        <a:solidFill>
          <a:srgbClr val="FF2600"/>
        </a:solidFill>
      </dgm:spPr>
      <dgm:t>
        <a:bodyPr/>
        <a:lstStyle/>
        <a:p>
          <a:r>
            <a:rPr lang="en-US" b="0" i="0" dirty="0"/>
            <a:t>P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b="0" i="0" dirty="0"/>
            <a:t>V </a:t>
          </a:r>
          <a:endParaRPr lang="en-US" dirty="0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Q </a:t>
          </a:r>
          <a:endParaRPr lang="en-US" dirty="0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4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T </a:t>
          </a:r>
          <a:endParaRPr lang="en-US" sz="1300" kern="120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V </a:t>
          </a:r>
          <a:endParaRPr lang="en-US" sz="1300" kern="120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I</a:t>
          </a:r>
          <a:endParaRPr lang="en-US" sz="1300" kern="1200" dirty="0"/>
        </a:p>
      </dsp:txBody>
      <dsp:txXfrm>
        <a:off x="4440427" y="9619"/>
        <a:ext cx="334034" cy="2823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L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T </a:t>
          </a:r>
          <a:endParaRPr lang="en-US" sz="1300" kern="120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G </a:t>
          </a:r>
          <a:endParaRPr lang="en-US" sz="1300" kern="1200" dirty="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M </a:t>
          </a:r>
          <a:endParaRPr lang="en-US" sz="1300" kern="1200" dirty="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 -</a:t>
          </a:r>
          <a:endParaRPr lang="en-US" sz="1300" kern="1200" dirty="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L </a:t>
          </a:r>
          <a:endParaRPr lang="en-US" sz="1300" kern="1200" dirty="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V </a:t>
          </a:r>
          <a:endParaRPr lang="en-US" sz="1300" kern="120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L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V </a:t>
          </a:r>
          <a:endParaRPr lang="en-US" sz="1300" kern="1200" dirty="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Q </a:t>
          </a:r>
          <a:endParaRPr lang="en-US" sz="1300" kern="1200" dirty="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rgbClr val="FF26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P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F </a:t>
          </a:r>
          <a:endParaRPr lang="en-US" sz="1300" kern="1200" dirty="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T </a:t>
          </a:r>
          <a:endParaRPr lang="en-US" sz="1300" kern="120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V </a:t>
          </a:r>
          <a:endParaRPr lang="en-US" sz="1300" kern="120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I</a:t>
          </a:r>
          <a:endParaRPr lang="en-US" sz="1300" kern="1200" dirty="0"/>
        </a:p>
      </dsp:txBody>
      <dsp:txXfrm>
        <a:off x="4440427" y="9619"/>
        <a:ext cx="334034" cy="28239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I </a:t>
          </a:r>
          <a:endParaRPr lang="en-US" sz="1300" kern="1200" dirty="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rgbClr val="FF26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</a:t>
          </a:r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T </a:t>
          </a:r>
          <a:endParaRPr lang="en-US" sz="1300" kern="120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G </a:t>
          </a:r>
          <a:endParaRPr lang="en-US" sz="1300" kern="1200" dirty="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M </a:t>
          </a:r>
          <a:endParaRPr lang="en-US" sz="1300" kern="1200" dirty="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rgbClr val="FF26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P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 -</a:t>
          </a:r>
          <a:endParaRPr lang="en-US" sz="1300" kern="1200" dirty="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L </a:t>
          </a:r>
          <a:endParaRPr lang="en-US" sz="1300" kern="1200" dirty="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V </a:t>
          </a:r>
          <a:endParaRPr lang="en-US" sz="1300" kern="120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rgbClr val="FF26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P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V </a:t>
          </a:r>
          <a:endParaRPr lang="en-US" sz="1300" kern="1200" dirty="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Q </a:t>
          </a:r>
          <a:endParaRPr lang="en-US" sz="1300" kern="1200" dirty="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396BCE-8436-5E4B-B2EC-45A9B03F3405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0EC098-8491-054D-9A7F-ADED1F8CA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291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07CE5-56C3-16D4-60B8-F93316BE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E55F2-E4DA-D447-2C31-97C613BA5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5F9DA6-820D-1248-CAC6-88A83B5BD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took a different approach. </a:t>
            </a:r>
          </a:p>
          <a:p>
            <a:endParaRPr lang="en-US" dirty="0"/>
          </a:p>
          <a:p>
            <a:r>
              <a:rPr lang="en-US" dirty="0"/>
              <a:t>Instead of just computing VEP on a single reference sequence, we repeated the VEP procedure on personalized genomes from thousands of individuals to a build distribution of VEPs, and see where the reference falls within that distribution.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4448E-EBA3-2907-60B1-1F74D8261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CE897-EDB9-C040-A1BE-C24B073651E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835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75C39-0993-F32E-4AF7-0D3A5E4D8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CDC79-82EF-3224-4CD0-D05BFC7BF3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4E742-A025-17C1-AE1A-76F730A9C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took a different approach. </a:t>
            </a:r>
          </a:p>
          <a:p>
            <a:endParaRPr lang="en-US" dirty="0"/>
          </a:p>
          <a:p>
            <a:r>
              <a:rPr lang="en-US" dirty="0"/>
              <a:t>Instead of just computing VEP on a single reference sequence, we repeated the VEP procedure on personalized genomes from thousands of individuals to a build distribution of VEPs, and see where the reference falls within that distribution.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9268A-9B6E-98E0-DD85-3FE409C0C1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CE897-EDB9-C040-A1BE-C24B073651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2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F069E-09F6-D18B-6BDA-D19B7A6CF0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6282C-757F-10F9-D3DF-5AC905D8ED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F07C0-EB68-F5D1-7DA4-19CAF7DA6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AC2D0D-37BB-D742-D1AB-CC7ED3502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C803B-B0EE-48A0-DB09-303AEFB6A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537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6D2F2-2B48-C510-28F0-FC10D201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BD42-28FF-42E5-054F-6FF2CA7D1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F5027-55D6-9BFF-F549-008B16E8C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C80C34-7544-E64C-D1F4-82A7BE4F0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E22A2-5AC5-9179-8B40-F47EEFB12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67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B082B-D888-793E-EF7C-B0758637C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70D368-9A9E-2AB3-8809-4C8AD9FCF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9561D-376B-7300-770B-5A919194C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8CC53-2C4D-984B-C08E-EA39A6F78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C125F-9EF0-0505-3B65-5E4983F46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371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B5F6C-B738-D6D1-C167-FFFDF3139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7EC9E-DFDA-86E7-0B11-C5F0009813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33AC26-5A96-A597-E4EF-61FD16298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334C11-4C35-84BA-4789-EA5823083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C7C6E-437F-B768-956D-A86DBBF0A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ED50-8682-AAE5-EBCE-E4FAA3E1C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55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32A5-3865-D270-F77B-B2961D7E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2340C-F184-631F-0935-315A576D4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85407F-DBE4-7AC1-E721-688721F3D6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A2B680-6DD9-608A-C6F4-2F9F58841C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A3F828-58FF-CB62-5404-834BEDBCD6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BBE0CD-6510-9A12-1E28-0F0A3F6F5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698264-3F30-7228-2D92-8D8511DFB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C35186-506E-41C0-7A4A-4F9619D39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267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77C2A-DBBF-810C-A38B-FD391A845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9F6304-7A83-AE0C-B571-8854B8F1E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34AE8D-80B2-3BC6-BE01-C9B912C66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425348-4391-60E3-C7ED-C95756FEA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04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1309BE-DFE9-795B-2063-B91CBFFA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137B9A-261C-05CD-DE77-80BF3B601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02319-9755-CD80-EF78-6D3EA03C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182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45141-C644-3EE4-E32A-10893201E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B940E-989F-7D5A-B2A1-16DA12BEC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022E33-4474-E59C-3F88-3CF7A66ABC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76B51F-1B90-E1FE-A9D4-102033748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E8FD15-B317-07AE-CC50-FC9FAB4A9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799A39-BAB8-73DB-AADF-CF4A1182F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27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B9B3B-E5F0-AEF1-5895-FB3912CAA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287646-0382-53D7-B608-AB01D43BA1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B0C90A-21EB-CA32-8F2F-8E2560FDEF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0A9D6-EDDA-A8FA-1D0C-708828564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A85E23-1ED4-0EC8-64DA-17440AF85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46B8-C76B-77E1-E960-8AE672C23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482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B99F7-3D92-3EC0-3E60-3FF366F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64B494-772D-42D8-9ED0-BC05CF060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DCC12-0709-70E8-D76D-8ACD30431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2F864-64F4-2232-2941-05103F000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56396-C810-51E2-8724-BEF5F90B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95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8D7B03-F965-B019-4D1A-AECC08C30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BAB2B7-468D-B3AC-E742-26EA8F7210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07EA7B-F351-5339-9DB3-B3D8A63FB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2EEF3-32D4-9D67-062D-BEFF74A58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820300-2265-8572-CA48-44D107909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947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450179-A2CD-E2AF-5688-F7BCC77CD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991BA-8EED-7124-3705-2EC2244065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4F4D8-8332-CFCB-ADC8-32486A16F7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51A73-5757-9E4F-9CE4-87C840708D9E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622E3-B919-2AF3-2399-992E099CF0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4C352-C092-D037-4516-43977D32F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87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diagramQuickStyle" Target="../diagrams/quickStyle2.xml"/><Relationship Id="rId18" Type="http://schemas.openxmlformats.org/officeDocument/2006/relationships/diagramQuickStyle" Target="../diagrams/quickStyle3.xml"/><Relationship Id="rId26" Type="http://schemas.openxmlformats.org/officeDocument/2006/relationships/diagramLayout" Target="../diagrams/layout4.xml"/><Relationship Id="rId39" Type="http://schemas.microsoft.com/office/2007/relationships/diagramDrawing" Target="../diagrams/drawing6.xml"/><Relationship Id="rId21" Type="http://schemas.openxmlformats.org/officeDocument/2006/relationships/image" Target="../media/image4.png"/><Relationship Id="rId34" Type="http://schemas.microsoft.com/office/2007/relationships/diagramDrawing" Target="../diagrams/drawing5.xml"/><Relationship Id="rId42" Type="http://schemas.openxmlformats.org/officeDocument/2006/relationships/diagramQuickStyle" Target="../diagrams/quickStyle7.xml"/><Relationship Id="rId47" Type="http://schemas.openxmlformats.org/officeDocument/2006/relationships/diagramQuickStyle" Target="../diagrams/quickStyle8.xml"/><Relationship Id="rId50" Type="http://schemas.openxmlformats.org/officeDocument/2006/relationships/image" Target="../media/image8.pn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1.xml"/><Relationship Id="rId16" Type="http://schemas.openxmlformats.org/officeDocument/2006/relationships/diagramData" Target="../diagrams/data3.xml"/><Relationship Id="rId29" Type="http://schemas.microsoft.com/office/2007/relationships/diagramDrawing" Target="../diagrams/drawing4.xml"/><Relationship Id="rId11" Type="http://schemas.openxmlformats.org/officeDocument/2006/relationships/diagramData" Target="../diagrams/data2.xml"/><Relationship Id="rId24" Type="http://schemas.openxmlformats.org/officeDocument/2006/relationships/image" Target="../media/image7.svg"/><Relationship Id="rId32" Type="http://schemas.openxmlformats.org/officeDocument/2006/relationships/diagramQuickStyle" Target="../diagrams/quickStyle5.xml"/><Relationship Id="rId37" Type="http://schemas.openxmlformats.org/officeDocument/2006/relationships/diagramQuickStyle" Target="../diagrams/quickStyle6.xml"/><Relationship Id="rId40" Type="http://schemas.openxmlformats.org/officeDocument/2006/relationships/diagramData" Target="../diagrams/data7.xml"/><Relationship Id="rId45" Type="http://schemas.openxmlformats.org/officeDocument/2006/relationships/diagramData" Target="../diagrams/data8.xml"/><Relationship Id="rId5" Type="http://schemas.openxmlformats.org/officeDocument/2006/relationships/image" Target="../media/image3.png"/><Relationship Id="rId15" Type="http://schemas.microsoft.com/office/2007/relationships/diagramDrawing" Target="../diagrams/drawing2.xml"/><Relationship Id="rId23" Type="http://schemas.openxmlformats.org/officeDocument/2006/relationships/image" Target="../media/image6.png"/><Relationship Id="rId28" Type="http://schemas.openxmlformats.org/officeDocument/2006/relationships/diagramColors" Target="../diagrams/colors4.xml"/><Relationship Id="rId36" Type="http://schemas.openxmlformats.org/officeDocument/2006/relationships/diagramLayout" Target="../diagrams/layout6.xml"/><Relationship Id="rId49" Type="http://schemas.microsoft.com/office/2007/relationships/diagramDrawing" Target="../diagrams/drawing8.xml"/><Relationship Id="rId10" Type="http://schemas.microsoft.com/office/2007/relationships/diagramDrawing" Target="../diagrams/drawing1.xml"/><Relationship Id="rId19" Type="http://schemas.openxmlformats.org/officeDocument/2006/relationships/diagramColors" Target="../diagrams/colors3.xml"/><Relationship Id="rId31" Type="http://schemas.openxmlformats.org/officeDocument/2006/relationships/diagramLayout" Target="../diagrams/layout5.xml"/><Relationship Id="rId44" Type="http://schemas.microsoft.com/office/2007/relationships/diagramDrawing" Target="../diagrams/drawing7.xml"/><Relationship Id="rId4" Type="http://schemas.openxmlformats.org/officeDocument/2006/relationships/image" Target="../media/image2.png"/><Relationship Id="rId9" Type="http://schemas.openxmlformats.org/officeDocument/2006/relationships/diagramColors" Target="../diagrams/colors1.xml"/><Relationship Id="rId14" Type="http://schemas.openxmlformats.org/officeDocument/2006/relationships/diagramColors" Target="../diagrams/colors2.xml"/><Relationship Id="rId22" Type="http://schemas.openxmlformats.org/officeDocument/2006/relationships/image" Target="../media/image5.svg"/><Relationship Id="rId27" Type="http://schemas.openxmlformats.org/officeDocument/2006/relationships/diagramQuickStyle" Target="../diagrams/quickStyle4.xml"/><Relationship Id="rId30" Type="http://schemas.openxmlformats.org/officeDocument/2006/relationships/diagramData" Target="../diagrams/data5.xml"/><Relationship Id="rId35" Type="http://schemas.openxmlformats.org/officeDocument/2006/relationships/diagramData" Target="../diagrams/data6.xml"/><Relationship Id="rId43" Type="http://schemas.openxmlformats.org/officeDocument/2006/relationships/diagramColors" Target="../diagrams/colors7.xml"/><Relationship Id="rId48" Type="http://schemas.openxmlformats.org/officeDocument/2006/relationships/diagramColors" Target="../diagrams/colors8.xml"/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png"/><Relationship Id="rId12" Type="http://schemas.openxmlformats.org/officeDocument/2006/relationships/diagramLayout" Target="../diagrams/layout2.xml"/><Relationship Id="rId17" Type="http://schemas.openxmlformats.org/officeDocument/2006/relationships/diagramLayout" Target="../diagrams/layout3.xml"/><Relationship Id="rId25" Type="http://schemas.openxmlformats.org/officeDocument/2006/relationships/diagramData" Target="../diagrams/data4.xml"/><Relationship Id="rId33" Type="http://schemas.openxmlformats.org/officeDocument/2006/relationships/diagramColors" Target="../diagrams/colors5.xml"/><Relationship Id="rId38" Type="http://schemas.openxmlformats.org/officeDocument/2006/relationships/diagramColors" Target="../diagrams/colors6.xml"/><Relationship Id="rId46" Type="http://schemas.openxmlformats.org/officeDocument/2006/relationships/diagramLayout" Target="../diagrams/layout8.xml"/><Relationship Id="rId20" Type="http://schemas.microsoft.com/office/2007/relationships/diagramDrawing" Target="../diagrams/drawing3.xml"/><Relationship Id="rId41" Type="http://schemas.openxmlformats.org/officeDocument/2006/relationships/diagramLayout" Target="../diagrams/layout7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C4B8D-4522-2CC1-3942-D2C6D85AA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ED1487F7-0183-862B-1F0F-A115D82DB694}"/>
              </a:ext>
            </a:extLst>
          </p:cNvPr>
          <p:cNvGrpSpPr>
            <a:grpSpLocks noChangeAspect="1"/>
          </p:cNvGrpSpPr>
          <p:nvPr/>
        </p:nvGrpSpPr>
        <p:grpSpPr>
          <a:xfrm>
            <a:off x="10041426" y="858505"/>
            <a:ext cx="3044851" cy="1293279"/>
            <a:chOff x="-2466454" y="-180476"/>
            <a:chExt cx="16387064" cy="6960286"/>
          </a:xfrm>
        </p:grpSpPr>
        <p:pic>
          <p:nvPicPr>
            <p:cNvPr id="52" name="Picture 51" descr="A blue and yellow spirals&#10;&#10;AI-generated content may be incorrect.">
              <a:extLst>
                <a:ext uri="{FF2B5EF4-FFF2-40B4-BE49-F238E27FC236}">
                  <a16:creationId xmlns:a16="http://schemas.microsoft.com/office/drawing/2014/main" id="{7FE3E4ED-8283-1541-9EDC-EB37F28CC6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82890" y="-78190"/>
              <a:ext cx="4537720" cy="6858000"/>
            </a:xfrm>
            <a:prstGeom prst="rect">
              <a:avLst/>
            </a:prstGeom>
          </p:spPr>
        </p:pic>
        <p:pic>
          <p:nvPicPr>
            <p:cNvPr id="6" name="Picture 5" descr="A blue and yellow spiraled protein&#10;&#10;AI-generated content may be incorrect.">
              <a:extLst>
                <a:ext uri="{FF2B5EF4-FFF2-40B4-BE49-F238E27FC236}">
                  <a16:creationId xmlns:a16="http://schemas.microsoft.com/office/drawing/2014/main" id="{D5179EF8-E609-CF85-600D-DC86567C1E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5682"/>
            <a:stretch>
              <a:fillRect/>
            </a:stretch>
          </p:blipFill>
          <p:spPr>
            <a:xfrm>
              <a:off x="4056524" y="-180476"/>
              <a:ext cx="5771767" cy="6858000"/>
            </a:xfrm>
            <a:prstGeom prst="rect">
              <a:avLst/>
            </a:prstGeom>
          </p:spPr>
        </p:pic>
        <p:pic>
          <p:nvPicPr>
            <p:cNvPr id="50" name="Picture 49" descr="A blue and yellow spiral structure&#10;&#10;AI-generated content may be incorrect.">
              <a:extLst>
                <a:ext uri="{FF2B5EF4-FFF2-40B4-BE49-F238E27FC236}">
                  <a16:creationId xmlns:a16="http://schemas.microsoft.com/office/drawing/2014/main" id="{40D737F6-7F7D-00DA-5797-C7BEDEFA3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6884"/>
            <a:stretch>
              <a:fillRect/>
            </a:stretch>
          </p:blipFill>
          <p:spPr>
            <a:xfrm>
              <a:off x="-2466454" y="-85186"/>
              <a:ext cx="7237347" cy="6711297"/>
            </a:xfrm>
            <a:prstGeom prst="rect">
              <a:avLst/>
            </a:prstGeom>
          </p:spPr>
        </p:pic>
      </p:grpSp>
      <p:sp>
        <p:nvSpPr>
          <p:cNvPr id="7" name="Bent-Up Arrow 6">
            <a:extLst>
              <a:ext uri="{FF2B5EF4-FFF2-40B4-BE49-F238E27FC236}">
                <a16:creationId xmlns:a16="http://schemas.microsoft.com/office/drawing/2014/main" id="{29772DCB-D9B5-FFB3-5F40-D1E7EA8DD08C}"/>
              </a:ext>
            </a:extLst>
          </p:cNvPr>
          <p:cNvSpPr/>
          <p:nvPr/>
        </p:nvSpPr>
        <p:spPr>
          <a:xfrm rot="16200000" flipV="1">
            <a:off x="7517866" y="1127159"/>
            <a:ext cx="1324633" cy="446107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56205C93-5514-4195-435B-B600C0D32993}"/>
              </a:ext>
            </a:extLst>
          </p:cNvPr>
          <p:cNvSpPr/>
          <p:nvPr/>
        </p:nvSpPr>
        <p:spPr>
          <a:xfrm rot="5400000">
            <a:off x="7220266" y="1270321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6862D10-6BAB-3B93-718E-3CCE8B70AC5A}"/>
              </a:ext>
            </a:extLst>
          </p:cNvPr>
          <p:cNvGrpSpPr/>
          <p:nvPr/>
        </p:nvGrpSpPr>
        <p:grpSpPr>
          <a:xfrm>
            <a:off x="4329410" y="2840458"/>
            <a:ext cx="605098" cy="1058230"/>
            <a:chOff x="5797583" y="4462381"/>
            <a:chExt cx="748923" cy="105823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6C1C3A7-CCB1-9DBE-738E-B838B880E76A}"/>
                </a:ext>
              </a:extLst>
            </p:cNvPr>
            <p:cNvSpPr txBox="1"/>
            <p:nvPr/>
          </p:nvSpPr>
          <p:spPr>
            <a:xfrm>
              <a:off x="5797583" y="4831882"/>
              <a:ext cx="748923" cy="357545"/>
            </a:xfrm>
            <a:prstGeom prst="roundRect">
              <a:avLst/>
            </a:prstGeom>
            <a:solidFill>
              <a:srgbClr val="FF2600"/>
            </a:solidFill>
            <a:ln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5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4L&gt;P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F91573C-05F1-B8CD-FE41-9948777911BC}"/>
                </a:ext>
              </a:extLst>
            </p:cNvPr>
            <p:cNvSpPr txBox="1"/>
            <p:nvPr/>
          </p:nvSpPr>
          <p:spPr>
            <a:xfrm>
              <a:off x="6002767" y="4462381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alibri" panose="020F0502020204030204" pitchFamily="34" charset="0"/>
                  <a:cs typeface="Calibri" panose="020F0502020204030204" pitchFamily="34" charset="0"/>
                </a:rPr>
                <a:t>+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199A5F5-DC8F-B925-C6F7-B85BD6C02F6C}"/>
                </a:ext>
              </a:extLst>
            </p:cNvPr>
            <p:cNvSpPr txBox="1"/>
            <p:nvPr/>
          </p:nvSpPr>
          <p:spPr>
            <a:xfrm rot="5400000">
              <a:off x="6113367" y="5185903"/>
              <a:ext cx="300082" cy="369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alibri" panose="020F0502020204030204" pitchFamily="34" charset="0"/>
                  <a:cs typeface="Calibri" panose="020F0502020204030204" pitchFamily="34" charset="0"/>
                </a:rPr>
                <a:t>=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9E74AF5-1D24-4669-5C56-B2C831D36DF5}"/>
              </a:ext>
            </a:extLst>
          </p:cNvPr>
          <p:cNvSpPr/>
          <p:nvPr/>
        </p:nvSpPr>
        <p:spPr>
          <a:xfrm>
            <a:off x="157649" y="527116"/>
            <a:ext cx="7791044" cy="2351369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Wildtype 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(WT)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4B058-6075-3300-E4FE-A813F4989CC7}"/>
              </a:ext>
            </a:extLst>
          </p:cNvPr>
          <p:cNvSpPr/>
          <p:nvPr/>
        </p:nvSpPr>
        <p:spPr>
          <a:xfrm>
            <a:off x="1346740" y="773788"/>
            <a:ext cx="6525321" cy="399693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 Genome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8B897D-CF17-DC90-AC62-8D60B7E34E29}"/>
              </a:ext>
            </a:extLst>
          </p:cNvPr>
          <p:cNvSpPr/>
          <p:nvPr/>
        </p:nvSpPr>
        <p:spPr>
          <a:xfrm>
            <a:off x="1346740" y="1253905"/>
            <a:ext cx="6525321" cy="1477446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 Genomes</a:t>
            </a:r>
          </a:p>
        </p:txBody>
      </p:sp>
      <p:graphicFrame>
        <p:nvGraphicFramePr>
          <p:cNvPr id="19" name="Diagram 18">
            <a:extLst>
              <a:ext uri="{FF2B5EF4-FFF2-40B4-BE49-F238E27FC236}">
                <a16:creationId xmlns:a16="http://schemas.microsoft.com/office/drawing/2014/main" id="{44745B12-29B4-0D90-5FA8-B4E8412FF1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4635556"/>
              </p:ext>
            </p:extLst>
          </p:nvPr>
        </p:nvGraphicFramePr>
        <p:xfrm>
          <a:off x="2982439" y="825168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CB63CB79-1604-43B9-A42E-BA9F2F0B6D0C}"/>
              </a:ext>
            </a:extLst>
          </p:cNvPr>
          <p:cNvSpPr txBox="1"/>
          <p:nvPr/>
        </p:nvSpPr>
        <p:spPr>
          <a:xfrm>
            <a:off x="3487870" y="3059313"/>
            <a:ext cx="1348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EA797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Clinical </a:t>
            </a:r>
          </a:p>
          <a:p>
            <a:r>
              <a:rPr lang="en-US" dirty="0">
                <a:solidFill>
                  <a:srgbClr val="EA797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Variant</a:t>
            </a:r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C3D72AF9-25E1-61AD-1025-1BF568D173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0255434"/>
              </p:ext>
            </p:extLst>
          </p:nvPr>
        </p:nvGraphicFramePr>
        <p:xfrm>
          <a:off x="2993505" y="1694214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1" r:lo="rId12" r:qs="rId13" r:cs="rId14"/>
          </a:graphicData>
        </a:graphic>
      </p:graphicFrame>
      <p:graphicFrame>
        <p:nvGraphicFramePr>
          <p:cNvPr id="22" name="Diagram 21">
            <a:extLst>
              <a:ext uri="{FF2B5EF4-FFF2-40B4-BE49-F238E27FC236}">
                <a16:creationId xmlns:a16="http://schemas.microsoft.com/office/drawing/2014/main" id="{199B509A-D366-3C8C-E6D5-50E57E12E1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102092"/>
              </p:ext>
            </p:extLst>
          </p:nvPr>
        </p:nvGraphicFramePr>
        <p:xfrm>
          <a:off x="2993505" y="1379481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6" r:lo="rId17" r:qs="rId18" r:cs="rId19"/>
          </a:graphicData>
        </a:graphic>
      </p:graphicFrame>
      <p:pic>
        <p:nvPicPr>
          <p:cNvPr id="23" name="Graphic 22" descr="Group of people with solid fill">
            <a:extLst>
              <a:ext uri="{FF2B5EF4-FFF2-40B4-BE49-F238E27FC236}">
                <a16:creationId xmlns:a16="http://schemas.microsoft.com/office/drawing/2014/main" id="{6D65753E-AEBC-CA42-5066-A1F3B039CD55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744607" y="1565755"/>
            <a:ext cx="1047931" cy="1047931"/>
          </a:xfrm>
          <a:prstGeom prst="rect">
            <a:avLst/>
          </a:prstGeom>
        </p:spPr>
      </p:pic>
      <p:pic>
        <p:nvPicPr>
          <p:cNvPr id="25" name="Graphic 24" descr="Man with solid fill">
            <a:extLst>
              <a:ext uri="{FF2B5EF4-FFF2-40B4-BE49-F238E27FC236}">
                <a16:creationId xmlns:a16="http://schemas.microsoft.com/office/drawing/2014/main" id="{704A2902-44A3-66E7-C8CA-2F5802D59D32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641762" y="825168"/>
            <a:ext cx="291042" cy="291042"/>
          </a:xfrm>
          <a:prstGeom prst="rect">
            <a:avLst/>
          </a:prstGeom>
        </p:spPr>
      </p:pic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0F44EB30-55D4-4172-F0D7-4FDEABFF2F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9314166"/>
              </p:ext>
            </p:extLst>
          </p:nvPr>
        </p:nvGraphicFramePr>
        <p:xfrm>
          <a:off x="2993505" y="2377920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5" r:lo="rId26" r:qs="rId27" r:cs="rId28"/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23563C0A-361A-9F98-0FBA-78D7479F590D}"/>
              </a:ext>
            </a:extLst>
          </p:cNvPr>
          <p:cNvSpPr txBox="1"/>
          <p:nvPr/>
        </p:nvSpPr>
        <p:spPr>
          <a:xfrm>
            <a:off x="4576431" y="1684338"/>
            <a:ext cx="9204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. . .</a:t>
            </a:r>
          </a:p>
        </p:txBody>
      </p:sp>
      <p:sp>
        <p:nvSpPr>
          <p:cNvPr id="28" name="Lightning Bolt 27">
            <a:extLst>
              <a:ext uri="{FF2B5EF4-FFF2-40B4-BE49-F238E27FC236}">
                <a16:creationId xmlns:a16="http://schemas.microsoft.com/office/drawing/2014/main" id="{70D15BBF-706C-D801-2992-574F4CE608F0}"/>
              </a:ext>
            </a:extLst>
          </p:cNvPr>
          <p:cNvSpPr/>
          <p:nvPr/>
        </p:nvSpPr>
        <p:spPr>
          <a:xfrm flipH="1">
            <a:off x="4962053" y="2968679"/>
            <a:ext cx="422196" cy="478945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4F0BCE2-A05C-FA5E-5F8E-10D7D4351E79}"/>
              </a:ext>
            </a:extLst>
          </p:cNvPr>
          <p:cNvSpPr/>
          <p:nvPr/>
        </p:nvSpPr>
        <p:spPr>
          <a:xfrm>
            <a:off x="157649" y="3951495"/>
            <a:ext cx="7791044" cy="2351369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Mutated 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(MUT)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053BB0-3ABC-917B-FE14-8A2F5044950A}"/>
              </a:ext>
            </a:extLst>
          </p:cNvPr>
          <p:cNvSpPr/>
          <p:nvPr/>
        </p:nvSpPr>
        <p:spPr>
          <a:xfrm>
            <a:off x="1346740" y="4640514"/>
            <a:ext cx="6525321" cy="1477446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 Genomes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891A8B-F7C3-EFA7-977A-8FE25F2DE637}"/>
              </a:ext>
            </a:extLst>
          </p:cNvPr>
          <p:cNvSpPr/>
          <p:nvPr/>
        </p:nvSpPr>
        <p:spPr>
          <a:xfrm>
            <a:off x="1346740" y="4160397"/>
            <a:ext cx="6525321" cy="399693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 Genome</a:t>
            </a:r>
          </a:p>
        </p:txBody>
      </p:sp>
      <p:graphicFrame>
        <p:nvGraphicFramePr>
          <p:cNvPr id="32" name="Diagram 31">
            <a:extLst>
              <a:ext uri="{FF2B5EF4-FFF2-40B4-BE49-F238E27FC236}">
                <a16:creationId xmlns:a16="http://schemas.microsoft.com/office/drawing/2014/main" id="{7034310F-EE5E-08EC-A762-8669D71D10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5007394"/>
              </p:ext>
            </p:extLst>
          </p:nvPr>
        </p:nvGraphicFramePr>
        <p:xfrm>
          <a:off x="2982439" y="4211777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0" r:lo="rId31" r:qs="rId32" r:cs="rId33"/>
          </a:graphicData>
        </a:graphic>
      </p:graphicFrame>
      <p:graphicFrame>
        <p:nvGraphicFramePr>
          <p:cNvPr id="33" name="Diagram 32">
            <a:extLst>
              <a:ext uri="{FF2B5EF4-FFF2-40B4-BE49-F238E27FC236}">
                <a16:creationId xmlns:a16="http://schemas.microsoft.com/office/drawing/2014/main" id="{6FF8BC58-E422-65FD-0FCE-F7C5DED66C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9028455"/>
              </p:ext>
            </p:extLst>
          </p:nvPr>
        </p:nvGraphicFramePr>
        <p:xfrm>
          <a:off x="2988126" y="5125188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5" r:lo="rId36" r:qs="rId37" r:cs="rId38"/>
          </a:graphicData>
        </a:graphic>
      </p:graphicFrame>
      <p:graphicFrame>
        <p:nvGraphicFramePr>
          <p:cNvPr id="34" name="Diagram 33">
            <a:extLst>
              <a:ext uri="{FF2B5EF4-FFF2-40B4-BE49-F238E27FC236}">
                <a16:creationId xmlns:a16="http://schemas.microsoft.com/office/drawing/2014/main" id="{FB040729-801F-840E-A213-B04AE7DFE6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9683334"/>
              </p:ext>
            </p:extLst>
          </p:nvPr>
        </p:nvGraphicFramePr>
        <p:xfrm>
          <a:off x="2988126" y="4810455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0" r:lo="rId41" r:qs="rId42" r:cs="rId43"/>
          </a:graphicData>
        </a:graphic>
      </p:graphicFrame>
      <p:pic>
        <p:nvPicPr>
          <p:cNvPr id="35" name="Graphic 34" descr="Group of people with solid fill">
            <a:extLst>
              <a:ext uri="{FF2B5EF4-FFF2-40B4-BE49-F238E27FC236}">
                <a16:creationId xmlns:a16="http://schemas.microsoft.com/office/drawing/2014/main" id="{007642C5-9657-D40D-1313-306A8CFE9589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744607" y="4952364"/>
            <a:ext cx="1047931" cy="1047931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AE78F6D1-89C1-5FC8-60D6-17BDA6D0B17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641762" y="4211777"/>
            <a:ext cx="291042" cy="291042"/>
          </a:xfrm>
          <a:prstGeom prst="rect">
            <a:avLst/>
          </a:prstGeom>
        </p:spPr>
      </p:pic>
      <p:graphicFrame>
        <p:nvGraphicFramePr>
          <p:cNvPr id="37" name="Diagram 36">
            <a:extLst>
              <a:ext uri="{FF2B5EF4-FFF2-40B4-BE49-F238E27FC236}">
                <a16:creationId xmlns:a16="http://schemas.microsoft.com/office/drawing/2014/main" id="{EEB3A55A-F362-2409-9A00-385064778F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2637667"/>
              </p:ext>
            </p:extLst>
          </p:nvPr>
        </p:nvGraphicFramePr>
        <p:xfrm>
          <a:off x="2993505" y="5779262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5" r:lo="rId46" r:qs="rId47" r:cs="rId48"/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BF039F69-B433-3249-30F9-1B046C2046F6}"/>
              </a:ext>
            </a:extLst>
          </p:cNvPr>
          <p:cNvSpPr txBox="1"/>
          <p:nvPr/>
        </p:nvSpPr>
        <p:spPr>
          <a:xfrm>
            <a:off x="4576431" y="5083899"/>
            <a:ext cx="9204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. . 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E4009C-9267-B2C2-4668-5B02A9E44A6A}"/>
              </a:ext>
            </a:extLst>
          </p:cNvPr>
          <p:cNvSpPr txBox="1"/>
          <p:nvPr/>
        </p:nvSpPr>
        <p:spPr>
          <a:xfrm>
            <a:off x="11901929" y="4132178"/>
            <a:ext cx="11892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Calibri" panose="020F0502020204030204" pitchFamily="34" charset="0"/>
                <a:cs typeface="Calibri" panose="020F0502020204030204" pitchFamily="34" charset="0"/>
              </a:rPr>
              <a:t>VEP Distribution</a:t>
            </a:r>
          </a:p>
        </p:txBody>
      </p:sp>
      <p:sp>
        <p:nvSpPr>
          <p:cNvPr id="46" name="Triangle 45">
            <a:extLst>
              <a:ext uri="{FF2B5EF4-FFF2-40B4-BE49-F238E27FC236}">
                <a16:creationId xmlns:a16="http://schemas.microsoft.com/office/drawing/2014/main" id="{8298711F-3110-99CB-54D4-E058DC998FB3}"/>
              </a:ext>
            </a:extLst>
          </p:cNvPr>
          <p:cNvSpPr/>
          <p:nvPr/>
        </p:nvSpPr>
        <p:spPr>
          <a:xfrm rot="5400000">
            <a:off x="7211828" y="4690165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>
            <a:extLst>
              <a:ext uri="{FF2B5EF4-FFF2-40B4-BE49-F238E27FC236}">
                <a16:creationId xmlns:a16="http://schemas.microsoft.com/office/drawing/2014/main" id="{E41D0BDD-7D11-A91D-CF36-B55A7BED8727}"/>
              </a:ext>
            </a:extLst>
          </p:cNvPr>
          <p:cNvSpPr/>
          <p:nvPr/>
        </p:nvSpPr>
        <p:spPr>
          <a:xfrm>
            <a:off x="8407469" y="543326"/>
            <a:ext cx="1519228" cy="457956"/>
          </a:xfrm>
          <a:prstGeom prst="cube">
            <a:avLst>
              <a:gd name="adj" fmla="val 17431"/>
            </a:avLst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AlphaFold</a:t>
            </a:r>
          </a:p>
        </p:txBody>
      </p:sp>
      <p:sp>
        <p:nvSpPr>
          <p:cNvPr id="48" name="Triangle 47">
            <a:extLst>
              <a:ext uri="{FF2B5EF4-FFF2-40B4-BE49-F238E27FC236}">
                <a16:creationId xmlns:a16="http://schemas.microsoft.com/office/drawing/2014/main" id="{8EAA2C0D-4EDC-079A-E2D1-B4FA6E08EE31}"/>
              </a:ext>
            </a:extLst>
          </p:cNvPr>
          <p:cNvSpPr/>
          <p:nvPr/>
        </p:nvSpPr>
        <p:spPr>
          <a:xfrm rot="5400000">
            <a:off x="7211802" y="1272127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1086924A-CD8E-CB5F-940E-CDAB0DD9AEC5}"/>
              </a:ext>
            </a:extLst>
          </p:cNvPr>
          <p:cNvSpPr/>
          <p:nvPr/>
        </p:nvSpPr>
        <p:spPr>
          <a:xfrm>
            <a:off x="8479869" y="2602531"/>
            <a:ext cx="1519228" cy="1477585"/>
          </a:xfrm>
          <a:prstGeom prst="cube">
            <a:avLst>
              <a:gd name="adj" fmla="val 17431"/>
            </a:avLst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Protein Language Model</a:t>
            </a:r>
          </a:p>
        </p:txBody>
      </p:sp>
      <p:pic>
        <p:nvPicPr>
          <p:cNvPr id="13" name="Picture 1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DE4C4C3-B347-58EF-4765-B5467D1985A2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1901928" y="2846664"/>
            <a:ext cx="1189216" cy="11892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15B32A9A-B416-6B06-0EDF-F68C01A61D88}"/>
              </a:ext>
            </a:extLst>
          </p:cNvPr>
          <p:cNvSpPr/>
          <p:nvPr/>
        </p:nvSpPr>
        <p:spPr>
          <a:xfrm>
            <a:off x="9746425" y="2904273"/>
            <a:ext cx="902268" cy="429220"/>
          </a:xfrm>
          <a:prstGeom prst="rect">
            <a:avLst/>
          </a:prstGeom>
          <a:solidFill>
            <a:srgbClr val="7675E5">
              <a:alpha val="99809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WT </a:t>
            </a:r>
          </a:p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Predictions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4B4D4C-388E-BB8A-9EC0-D664222D6795}"/>
              </a:ext>
            </a:extLst>
          </p:cNvPr>
          <p:cNvSpPr/>
          <p:nvPr/>
        </p:nvSpPr>
        <p:spPr>
          <a:xfrm>
            <a:off x="9750371" y="3554918"/>
            <a:ext cx="907670" cy="429220"/>
          </a:xfrm>
          <a:prstGeom prst="rect">
            <a:avLst/>
          </a:prstGeom>
          <a:solidFill>
            <a:srgbClr val="EA7978">
              <a:alpha val="99809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 </a:t>
            </a:r>
          </a:p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388AFA-5914-C8B6-BE9F-11F659AE31E8}"/>
              </a:ext>
            </a:extLst>
          </p:cNvPr>
          <p:cNvSpPr txBox="1"/>
          <p:nvPr/>
        </p:nvSpPr>
        <p:spPr>
          <a:xfrm>
            <a:off x="9992503" y="3259574"/>
            <a:ext cx="317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Calibri" panose="020F0502020204030204" pitchFamily="34" charset="0"/>
                <a:cs typeface="Calibri" panose="020F0502020204030204" pitchFamily="34" charset="0"/>
              </a:rPr>
              <a:t>Δ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7B7539D-4798-69B3-9114-256EF63DC4E0}"/>
              </a:ext>
            </a:extLst>
          </p:cNvPr>
          <p:cNvCxnSpPr>
            <a:cxnSpLocks/>
          </p:cNvCxnSpPr>
          <p:nvPr/>
        </p:nvCxnSpPr>
        <p:spPr>
          <a:xfrm flipH="1">
            <a:off x="12350948" y="2968679"/>
            <a:ext cx="30682" cy="850666"/>
          </a:xfrm>
          <a:prstGeom prst="line">
            <a:avLst/>
          </a:prstGeom>
          <a:ln w="19050" cap="flat" cmpd="sng" algn="ctr">
            <a:solidFill>
              <a:schemeClr val="tx1">
                <a:lumMod val="50000"/>
                <a:lumOff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02580F1-AF95-17B4-2CB8-EFCDE9AB7C75}"/>
              </a:ext>
            </a:extLst>
          </p:cNvPr>
          <p:cNvSpPr txBox="1"/>
          <p:nvPr/>
        </p:nvSpPr>
        <p:spPr>
          <a:xfrm rot="16200000">
            <a:off x="11960505" y="2821277"/>
            <a:ext cx="649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77244C92-C50C-1DD1-B1DA-838B590149AD}"/>
              </a:ext>
            </a:extLst>
          </p:cNvPr>
          <p:cNvSpPr/>
          <p:nvPr/>
        </p:nvSpPr>
        <p:spPr>
          <a:xfrm>
            <a:off x="10595879" y="2898408"/>
            <a:ext cx="1362035" cy="1085730"/>
          </a:xfrm>
          <a:prstGeom prst="homePlate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none" rIns="0" rtlCol="0" anchor="ctr"/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VEPs</a:t>
            </a:r>
          </a:p>
        </p:txBody>
      </p:sp>
      <p:sp>
        <p:nvSpPr>
          <p:cNvPr id="15" name="Bent-Up Arrow 14">
            <a:extLst>
              <a:ext uri="{FF2B5EF4-FFF2-40B4-BE49-F238E27FC236}">
                <a16:creationId xmlns:a16="http://schemas.microsoft.com/office/drawing/2014/main" id="{4CED57E4-FFB5-E315-32D5-E4539FA5368B}"/>
              </a:ext>
            </a:extLst>
          </p:cNvPr>
          <p:cNvSpPr/>
          <p:nvPr/>
        </p:nvSpPr>
        <p:spPr>
          <a:xfrm>
            <a:off x="7991455" y="4080116"/>
            <a:ext cx="1543454" cy="1194587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Bent-Up Arrow 54">
            <a:extLst>
              <a:ext uri="{FF2B5EF4-FFF2-40B4-BE49-F238E27FC236}">
                <a16:creationId xmlns:a16="http://schemas.microsoft.com/office/drawing/2014/main" id="{4B4ED90D-EDF6-ACF7-A6D8-130B8BE44955}"/>
              </a:ext>
            </a:extLst>
          </p:cNvPr>
          <p:cNvSpPr/>
          <p:nvPr/>
        </p:nvSpPr>
        <p:spPr>
          <a:xfrm flipV="1">
            <a:off x="8002948" y="1518927"/>
            <a:ext cx="1543454" cy="1194587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B86138DD-90EB-4D95-0B26-DF568191D59C}"/>
              </a:ext>
            </a:extLst>
          </p:cNvPr>
          <p:cNvSpPr/>
          <p:nvPr/>
        </p:nvSpPr>
        <p:spPr>
          <a:xfrm>
            <a:off x="9856658" y="612302"/>
            <a:ext cx="2045270" cy="397043"/>
          </a:xfrm>
          <a:prstGeom prst="homePlate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none" rIns="0" rtlCol="0" anchor="ctr"/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Personalized Structures</a:t>
            </a:r>
          </a:p>
        </p:txBody>
      </p:sp>
    </p:spTree>
    <p:extLst>
      <p:ext uri="{BB962C8B-B14F-4D97-AF65-F5344CB8AC3E}">
        <p14:creationId xmlns:p14="http://schemas.microsoft.com/office/powerpoint/2010/main" val="681157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07B4-6F35-93EE-0920-FE29C713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le 7">
            <a:extLst>
              <a:ext uri="{FF2B5EF4-FFF2-40B4-BE49-F238E27FC236}">
                <a16:creationId xmlns:a16="http://schemas.microsoft.com/office/drawing/2014/main" id="{8715A702-56CB-6595-2118-55A9EED1C503}"/>
              </a:ext>
            </a:extLst>
          </p:cNvPr>
          <p:cNvSpPr/>
          <p:nvPr/>
        </p:nvSpPr>
        <p:spPr>
          <a:xfrm rot="5400000">
            <a:off x="6546262" y="1276673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FBEDE3-06C8-FC58-003F-010EBC4F83CC}"/>
              </a:ext>
            </a:extLst>
          </p:cNvPr>
          <p:cNvSpPr txBox="1"/>
          <p:nvPr/>
        </p:nvSpPr>
        <p:spPr>
          <a:xfrm>
            <a:off x="4096502" y="3322082"/>
            <a:ext cx="825097" cy="357545"/>
          </a:xfrm>
          <a:prstGeom prst="roundRect">
            <a:avLst/>
          </a:prstGeom>
          <a:solidFill>
            <a:srgbClr val="FF2600"/>
          </a:solidFill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c.9T&gt;G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9915F2-3690-D8F2-502D-B8EE0F791F63}"/>
              </a:ext>
            </a:extLst>
          </p:cNvPr>
          <p:cNvSpPr/>
          <p:nvPr/>
        </p:nvSpPr>
        <p:spPr>
          <a:xfrm>
            <a:off x="157649" y="527116"/>
            <a:ext cx="7117014" cy="2351369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Wildtype 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(WT)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468BF8-2F74-724E-25FB-B325DEAF0B17}"/>
              </a:ext>
            </a:extLst>
          </p:cNvPr>
          <p:cNvSpPr/>
          <p:nvPr/>
        </p:nvSpPr>
        <p:spPr>
          <a:xfrm>
            <a:off x="1346741" y="773788"/>
            <a:ext cx="5960793" cy="399693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</a:t>
            </a:r>
          </a:p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FB814B-D696-4830-8495-E5FCB806FD42}"/>
              </a:ext>
            </a:extLst>
          </p:cNvPr>
          <p:cNvSpPr/>
          <p:nvPr/>
        </p:nvSpPr>
        <p:spPr>
          <a:xfrm>
            <a:off x="1346741" y="1253905"/>
            <a:ext cx="5960793" cy="1477446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Genomes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CF97F6-01B3-BB3C-B001-1642A30822A7}"/>
              </a:ext>
            </a:extLst>
          </p:cNvPr>
          <p:cNvSpPr txBox="1"/>
          <p:nvPr/>
        </p:nvSpPr>
        <p:spPr>
          <a:xfrm>
            <a:off x="3861241" y="3047089"/>
            <a:ext cx="151922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EA797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Clinical Variant</a:t>
            </a:r>
          </a:p>
        </p:txBody>
      </p:sp>
      <p:pic>
        <p:nvPicPr>
          <p:cNvPr id="23" name="Graphic 22" descr="Group of people with solid fill">
            <a:extLst>
              <a:ext uri="{FF2B5EF4-FFF2-40B4-BE49-F238E27FC236}">
                <a16:creationId xmlns:a16="http://schemas.microsoft.com/office/drawing/2014/main" id="{E046E72C-D71D-1D2A-B701-3C46E5BF01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44607" y="1565755"/>
            <a:ext cx="1047931" cy="1047931"/>
          </a:xfrm>
          <a:prstGeom prst="rect">
            <a:avLst/>
          </a:prstGeom>
        </p:spPr>
      </p:pic>
      <p:pic>
        <p:nvPicPr>
          <p:cNvPr id="25" name="Graphic 24" descr="Man with solid fill">
            <a:extLst>
              <a:ext uri="{FF2B5EF4-FFF2-40B4-BE49-F238E27FC236}">
                <a16:creationId xmlns:a16="http://schemas.microsoft.com/office/drawing/2014/main" id="{803A7B91-D2A1-0E8D-EC7D-99D3EA7A55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23271" y="827937"/>
            <a:ext cx="291042" cy="29104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B9EC2D6-FCF2-6071-AF51-C8E69EA6EBAF}"/>
              </a:ext>
            </a:extLst>
          </p:cNvPr>
          <p:cNvSpPr txBox="1"/>
          <p:nvPr/>
        </p:nvSpPr>
        <p:spPr>
          <a:xfrm>
            <a:off x="4576431" y="1684338"/>
            <a:ext cx="9204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. . 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F7D29FB-4A1F-0547-870F-43590E4FE440}"/>
              </a:ext>
            </a:extLst>
          </p:cNvPr>
          <p:cNvSpPr/>
          <p:nvPr/>
        </p:nvSpPr>
        <p:spPr>
          <a:xfrm>
            <a:off x="157649" y="3951495"/>
            <a:ext cx="7117014" cy="2351369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Mutated 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(MUT)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839C3AD-797A-C8BC-0D05-8CC8E1D52072}"/>
              </a:ext>
            </a:extLst>
          </p:cNvPr>
          <p:cNvSpPr/>
          <p:nvPr/>
        </p:nvSpPr>
        <p:spPr>
          <a:xfrm>
            <a:off x="1346740" y="4640514"/>
            <a:ext cx="5960793" cy="1477446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Genomes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DB24DD-29D4-3E45-F67E-8A47756516E8}"/>
              </a:ext>
            </a:extLst>
          </p:cNvPr>
          <p:cNvSpPr/>
          <p:nvPr/>
        </p:nvSpPr>
        <p:spPr>
          <a:xfrm>
            <a:off x="1346740" y="4160397"/>
            <a:ext cx="5960793" cy="399693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</a:t>
            </a:r>
          </a:p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Genome</a:t>
            </a:r>
          </a:p>
        </p:txBody>
      </p:sp>
      <p:pic>
        <p:nvPicPr>
          <p:cNvPr id="35" name="Graphic 34" descr="Group of people with solid fill">
            <a:extLst>
              <a:ext uri="{FF2B5EF4-FFF2-40B4-BE49-F238E27FC236}">
                <a16:creationId xmlns:a16="http://schemas.microsoft.com/office/drawing/2014/main" id="{7A6CE27A-6686-97D0-DF12-CC67FF5B88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44606" y="4966968"/>
            <a:ext cx="1047931" cy="1047931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DD82DEFE-16A7-5C4C-C8B6-02C01CE3C3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23271" y="4214722"/>
            <a:ext cx="291042" cy="291042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99F6DAF-9D98-9FB0-2F40-3B298424DD2A}"/>
              </a:ext>
            </a:extLst>
          </p:cNvPr>
          <p:cNvSpPr txBox="1"/>
          <p:nvPr/>
        </p:nvSpPr>
        <p:spPr>
          <a:xfrm>
            <a:off x="11227925" y="4138530"/>
            <a:ext cx="11892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Calibri" panose="020F0502020204030204" pitchFamily="34" charset="0"/>
                <a:cs typeface="Calibri" panose="020F0502020204030204" pitchFamily="34" charset="0"/>
              </a:rPr>
              <a:t>VEP Distribution</a:t>
            </a:r>
          </a:p>
        </p:txBody>
      </p:sp>
      <p:sp>
        <p:nvSpPr>
          <p:cNvPr id="46" name="Triangle 45">
            <a:extLst>
              <a:ext uri="{FF2B5EF4-FFF2-40B4-BE49-F238E27FC236}">
                <a16:creationId xmlns:a16="http://schemas.microsoft.com/office/drawing/2014/main" id="{33F74E12-AC1C-8C89-2EFA-AC97061E2FB5}"/>
              </a:ext>
            </a:extLst>
          </p:cNvPr>
          <p:cNvSpPr/>
          <p:nvPr/>
        </p:nvSpPr>
        <p:spPr>
          <a:xfrm rot="5400000">
            <a:off x="6537824" y="4696517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riangle 47">
            <a:extLst>
              <a:ext uri="{FF2B5EF4-FFF2-40B4-BE49-F238E27FC236}">
                <a16:creationId xmlns:a16="http://schemas.microsoft.com/office/drawing/2014/main" id="{62D37E3B-8116-D505-9906-931E599D8EF2}"/>
              </a:ext>
            </a:extLst>
          </p:cNvPr>
          <p:cNvSpPr/>
          <p:nvPr/>
        </p:nvSpPr>
        <p:spPr>
          <a:xfrm rot="5400000">
            <a:off x="6537798" y="1278479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AD986019-E6A7-2200-1FB7-5A69DC506605}"/>
              </a:ext>
            </a:extLst>
          </p:cNvPr>
          <p:cNvSpPr/>
          <p:nvPr/>
        </p:nvSpPr>
        <p:spPr>
          <a:xfrm>
            <a:off x="7805865" y="2608883"/>
            <a:ext cx="1519228" cy="1477585"/>
          </a:xfrm>
          <a:prstGeom prst="cube">
            <a:avLst>
              <a:gd name="adj" fmla="val 17431"/>
            </a:avLst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 Model</a:t>
            </a:r>
          </a:p>
        </p:txBody>
      </p:sp>
      <p:pic>
        <p:nvPicPr>
          <p:cNvPr id="13" name="Picture 1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E4D1EA6-95EC-1129-8A57-734B6E4968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27924" y="2853016"/>
            <a:ext cx="1189216" cy="11892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EF3882BF-C9C8-6379-F2BF-4F845A54271B}"/>
              </a:ext>
            </a:extLst>
          </p:cNvPr>
          <p:cNvSpPr/>
          <p:nvPr/>
        </p:nvSpPr>
        <p:spPr>
          <a:xfrm>
            <a:off x="9072421" y="2910625"/>
            <a:ext cx="902268" cy="429220"/>
          </a:xfrm>
          <a:prstGeom prst="rect">
            <a:avLst/>
          </a:prstGeom>
          <a:solidFill>
            <a:srgbClr val="7675E5">
              <a:alpha val="99809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WT </a:t>
            </a:r>
          </a:p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Predictions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67D1F79-D0E0-0DDA-0407-4A725ED35595}"/>
              </a:ext>
            </a:extLst>
          </p:cNvPr>
          <p:cNvSpPr/>
          <p:nvPr/>
        </p:nvSpPr>
        <p:spPr>
          <a:xfrm>
            <a:off x="9076367" y="3561270"/>
            <a:ext cx="907670" cy="429220"/>
          </a:xfrm>
          <a:prstGeom prst="rect">
            <a:avLst/>
          </a:prstGeom>
          <a:solidFill>
            <a:srgbClr val="EA7978">
              <a:alpha val="99809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 </a:t>
            </a:r>
          </a:p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428AD6-AD43-C06E-B028-D2C5E2A793B7}"/>
              </a:ext>
            </a:extLst>
          </p:cNvPr>
          <p:cNvSpPr txBox="1"/>
          <p:nvPr/>
        </p:nvSpPr>
        <p:spPr>
          <a:xfrm>
            <a:off x="9318499" y="3265926"/>
            <a:ext cx="317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Calibri" panose="020F0502020204030204" pitchFamily="34" charset="0"/>
                <a:cs typeface="Calibri" panose="020F0502020204030204" pitchFamily="34" charset="0"/>
              </a:rPr>
              <a:t>Δ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D07320E-CE71-402B-3900-4467A3BB2605}"/>
              </a:ext>
            </a:extLst>
          </p:cNvPr>
          <p:cNvCxnSpPr>
            <a:cxnSpLocks/>
          </p:cNvCxnSpPr>
          <p:nvPr/>
        </p:nvCxnSpPr>
        <p:spPr>
          <a:xfrm flipH="1">
            <a:off x="11676944" y="2975031"/>
            <a:ext cx="30682" cy="850666"/>
          </a:xfrm>
          <a:prstGeom prst="line">
            <a:avLst/>
          </a:prstGeom>
          <a:ln w="19050" cap="flat" cmpd="sng" algn="ctr">
            <a:solidFill>
              <a:schemeClr val="tx1">
                <a:lumMod val="50000"/>
                <a:lumOff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1BBADA5-CF1D-D242-32C4-0C2A1640BEAC}"/>
              </a:ext>
            </a:extLst>
          </p:cNvPr>
          <p:cNvSpPr txBox="1"/>
          <p:nvPr/>
        </p:nvSpPr>
        <p:spPr>
          <a:xfrm rot="16200000">
            <a:off x="11286501" y="2827629"/>
            <a:ext cx="649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E34AD726-6FA1-25A4-3FBF-A0DBA9B216EC}"/>
              </a:ext>
            </a:extLst>
          </p:cNvPr>
          <p:cNvSpPr/>
          <p:nvPr/>
        </p:nvSpPr>
        <p:spPr>
          <a:xfrm>
            <a:off x="9921875" y="2904760"/>
            <a:ext cx="1362035" cy="1085730"/>
          </a:xfrm>
          <a:prstGeom prst="homePlate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none" rIns="0" rtlCol="0" anchor="ctr"/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VEPs</a:t>
            </a:r>
          </a:p>
        </p:txBody>
      </p:sp>
      <p:sp>
        <p:nvSpPr>
          <p:cNvPr id="15" name="Bent-Up Arrow 14">
            <a:extLst>
              <a:ext uri="{FF2B5EF4-FFF2-40B4-BE49-F238E27FC236}">
                <a16:creationId xmlns:a16="http://schemas.microsoft.com/office/drawing/2014/main" id="{DEE46F15-A0EC-85CD-5B1A-57502E9A5F0E}"/>
              </a:ext>
            </a:extLst>
          </p:cNvPr>
          <p:cNvSpPr/>
          <p:nvPr/>
        </p:nvSpPr>
        <p:spPr>
          <a:xfrm>
            <a:off x="7317451" y="4086468"/>
            <a:ext cx="1543454" cy="1194587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Bent-Up Arrow 54">
            <a:extLst>
              <a:ext uri="{FF2B5EF4-FFF2-40B4-BE49-F238E27FC236}">
                <a16:creationId xmlns:a16="http://schemas.microsoft.com/office/drawing/2014/main" id="{8A7C90A3-E795-2B96-1DCB-8B5492DA5ABF}"/>
              </a:ext>
            </a:extLst>
          </p:cNvPr>
          <p:cNvSpPr/>
          <p:nvPr/>
        </p:nvSpPr>
        <p:spPr>
          <a:xfrm flipV="1">
            <a:off x="7328944" y="1525279"/>
            <a:ext cx="1543454" cy="1194587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5161B86D-33F2-EA6F-BF2A-E3A6FB678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26833"/>
              </p:ext>
            </p:extLst>
          </p:nvPr>
        </p:nvGraphicFramePr>
        <p:xfrm>
          <a:off x="2838356" y="1257834"/>
          <a:ext cx="4302795" cy="146304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744933017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6387490"/>
                  </a:ext>
                </a:extLst>
              </a:tr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7768056"/>
                  </a:ext>
                </a:extLst>
              </a:tr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b="1" dirty="0">
                          <a:solidFill>
                            <a:srgbClr val="00B0F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439741"/>
                  </a:ext>
                </a:extLst>
              </a:tr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b="1" dirty="0">
                          <a:solidFill>
                            <a:srgbClr val="00B0F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29866"/>
                  </a:ext>
                </a:extLst>
              </a:tr>
            </a:tbl>
          </a:graphicData>
        </a:graphic>
      </p:graphicFrame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C9C49A05-E366-E33D-DFD4-BDF0082553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324556"/>
              </p:ext>
            </p:extLst>
          </p:nvPr>
        </p:nvGraphicFramePr>
        <p:xfrm>
          <a:off x="2838356" y="781246"/>
          <a:ext cx="4302795" cy="36576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67403460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080284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9F737EEF-A005-FD7B-6C74-4B57555498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580218"/>
              </p:ext>
            </p:extLst>
          </p:nvPr>
        </p:nvGraphicFramePr>
        <p:xfrm>
          <a:off x="2838356" y="4640869"/>
          <a:ext cx="4302795" cy="146304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744933017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6387490"/>
                  </a:ext>
                </a:extLst>
              </a:tr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7768056"/>
                  </a:ext>
                </a:extLst>
              </a:tr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 </a:t>
                      </a: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439741"/>
                  </a:ext>
                </a:extLst>
              </a:tr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</a:t>
                      </a:r>
                      <a:r>
                        <a:rPr lang="en-US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29866"/>
                  </a:ext>
                </a:extLst>
              </a:tr>
            </a:tbl>
          </a:graphicData>
        </a:graphic>
      </p:graphicFrame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73E84BF2-4255-6CB5-2274-DC2B51D2C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610592"/>
              </p:ext>
            </p:extLst>
          </p:nvPr>
        </p:nvGraphicFramePr>
        <p:xfrm>
          <a:off x="2838356" y="4164281"/>
          <a:ext cx="4302795" cy="36576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67403460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080284"/>
                  </a:ext>
                </a:extLst>
              </a:tr>
            </a:tbl>
          </a:graphicData>
        </a:graphic>
      </p:graphicFrame>
      <p:sp>
        <p:nvSpPr>
          <p:cNvPr id="28" name="Lightning Bolt 27">
            <a:extLst>
              <a:ext uri="{FF2B5EF4-FFF2-40B4-BE49-F238E27FC236}">
                <a16:creationId xmlns:a16="http://schemas.microsoft.com/office/drawing/2014/main" id="{3A776C11-87A9-801C-DD6A-9A7E3606D0E4}"/>
              </a:ext>
            </a:extLst>
          </p:cNvPr>
          <p:cNvSpPr/>
          <p:nvPr/>
        </p:nvSpPr>
        <p:spPr>
          <a:xfrm rot="19910345" flipH="1">
            <a:off x="4297953" y="3663334"/>
            <a:ext cx="422196" cy="478945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D4935DD-4F3C-B844-46BF-01A029E58CF7}"/>
              </a:ext>
            </a:extLst>
          </p:cNvPr>
          <p:cNvGrpSpPr/>
          <p:nvPr/>
        </p:nvGrpSpPr>
        <p:grpSpPr>
          <a:xfrm>
            <a:off x="2077653" y="5951621"/>
            <a:ext cx="2813233" cy="369332"/>
            <a:chOff x="2077653" y="5951621"/>
            <a:chExt cx="2813233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F39D66A-6F33-E7C3-FD7B-03E79148A817}"/>
                </a:ext>
              </a:extLst>
            </p:cNvPr>
            <p:cNvSpPr txBox="1"/>
            <p:nvPr/>
          </p:nvSpPr>
          <p:spPr>
            <a:xfrm>
              <a:off x="4509050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E09D964-FC59-B282-ABB3-7CE9A63D772E}"/>
                </a:ext>
              </a:extLst>
            </p:cNvPr>
            <p:cNvSpPr txBox="1"/>
            <p:nvPr/>
          </p:nvSpPr>
          <p:spPr>
            <a:xfrm>
              <a:off x="2077653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BEF4BA0-1467-282D-1DC1-83822AF2CA64}"/>
              </a:ext>
            </a:extLst>
          </p:cNvPr>
          <p:cNvGrpSpPr/>
          <p:nvPr/>
        </p:nvGrpSpPr>
        <p:grpSpPr>
          <a:xfrm>
            <a:off x="2077653" y="2565293"/>
            <a:ext cx="2813233" cy="369332"/>
            <a:chOff x="2077653" y="5951621"/>
            <a:chExt cx="2813233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2EB32575-7F7A-6238-159A-A8B2CA8F42F4}"/>
                </a:ext>
              </a:extLst>
            </p:cNvPr>
            <p:cNvSpPr txBox="1"/>
            <p:nvPr/>
          </p:nvSpPr>
          <p:spPr>
            <a:xfrm>
              <a:off x="4509050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B772855-D8A1-5017-C213-01BEF005187B}"/>
                </a:ext>
              </a:extLst>
            </p:cNvPr>
            <p:cNvSpPr txBox="1"/>
            <p:nvPr/>
          </p:nvSpPr>
          <p:spPr>
            <a:xfrm>
              <a:off x="2077653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9166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Lightning Bolt 35">
            <a:extLst>
              <a:ext uri="{FF2B5EF4-FFF2-40B4-BE49-F238E27FC236}">
                <a16:creationId xmlns:a16="http://schemas.microsoft.com/office/drawing/2014/main" id="{4D3DDBE4-5415-10C1-7674-F3B1D0E410CA}"/>
              </a:ext>
            </a:extLst>
          </p:cNvPr>
          <p:cNvSpPr/>
          <p:nvPr/>
        </p:nvSpPr>
        <p:spPr>
          <a:xfrm rot="19910345" flipH="1">
            <a:off x="2068210" y="2956409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riangle 32">
            <a:extLst>
              <a:ext uri="{FF2B5EF4-FFF2-40B4-BE49-F238E27FC236}">
                <a16:creationId xmlns:a16="http://schemas.microsoft.com/office/drawing/2014/main" id="{917FFB64-1E0F-0306-65AF-3A859A1AB54B}"/>
              </a:ext>
            </a:extLst>
          </p:cNvPr>
          <p:cNvSpPr/>
          <p:nvPr/>
        </p:nvSpPr>
        <p:spPr>
          <a:xfrm rot="10800000">
            <a:off x="8592452" y="3757958"/>
            <a:ext cx="3478340" cy="493256"/>
          </a:xfrm>
          <a:prstGeom prst="triangle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E070BD-A189-879F-0279-18C719B55654}"/>
              </a:ext>
            </a:extLst>
          </p:cNvPr>
          <p:cNvGrpSpPr/>
          <p:nvPr/>
        </p:nvGrpSpPr>
        <p:grpSpPr>
          <a:xfrm>
            <a:off x="8621314" y="3310156"/>
            <a:ext cx="3478340" cy="237688"/>
            <a:chOff x="2113613" y="2383437"/>
            <a:chExt cx="5850173" cy="464695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F0334AF-9185-CD69-55C1-A07EE031D43C}"/>
                </a:ext>
              </a:extLst>
            </p:cNvPr>
            <p:cNvCxnSpPr>
              <a:cxnSpLocks/>
            </p:cNvCxnSpPr>
            <p:nvPr/>
          </p:nvCxnSpPr>
          <p:spPr>
            <a:xfrm>
              <a:off x="2113613" y="2615784"/>
              <a:ext cx="58501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1FAB377-7A83-22C4-8DD1-45BA35369318}"/>
                </a:ext>
              </a:extLst>
            </p:cNvPr>
            <p:cNvSpPr/>
            <p:nvPr/>
          </p:nvSpPr>
          <p:spPr>
            <a:xfrm>
              <a:off x="2878113" y="2383437"/>
              <a:ext cx="1321748" cy="46469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699CA9-A539-C2AA-48CF-B9E23A5348D8}"/>
                </a:ext>
              </a:extLst>
            </p:cNvPr>
            <p:cNvSpPr/>
            <p:nvPr/>
          </p:nvSpPr>
          <p:spPr>
            <a:xfrm>
              <a:off x="4667927" y="2383437"/>
              <a:ext cx="712147" cy="464695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80C0360-EE76-749D-49BE-9771C44E7007}"/>
                </a:ext>
              </a:extLst>
            </p:cNvPr>
            <p:cNvSpPr/>
            <p:nvPr/>
          </p:nvSpPr>
          <p:spPr>
            <a:xfrm>
              <a:off x="6326606" y="2383437"/>
              <a:ext cx="1321748" cy="46469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3D9FE33-C304-DD02-9C0B-928BCE15E6F7}"/>
              </a:ext>
            </a:extLst>
          </p:cNvPr>
          <p:cNvSpPr txBox="1"/>
          <p:nvPr/>
        </p:nvSpPr>
        <p:spPr>
          <a:xfrm>
            <a:off x="8420356" y="2443881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Splicing Variants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A0A27E6-33B4-4414-89CF-6BC1BF6B13B9}"/>
              </a:ext>
            </a:extLst>
          </p:cNvPr>
          <p:cNvGrpSpPr/>
          <p:nvPr/>
        </p:nvGrpSpPr>
        <p:grpSpPr>
          <a:xfrm>
            <a:off x="9541379" y="4254901"/>
            <a:ext cx="1580485" cy="237688"/>
            <a:chOff x="2878113" y="2383437"/>
            <a:chExt cx="2658196" cy="46469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FEE3E9D-EEDF-C9CF-E4F2-1DEDE26A6E0B}"/>
                </a:ext>
              </a:extLst>
            </p:cNvPr>
            <p:cNvSpPr/>
            <p:nvPr/>
          </p:nvSpPr>
          <p:spPr>
            <a:xfrm>
              <a:off x="2878113" y="2383437"/>
              <a:ext cx="1321748" cy="46469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B3E133C-F782-F611-F0DD-FC92691A2496}"/>
                </a:ext>
              </a:extLst>
            </p:cNvPr>
            <p:cNvSpPr/>
            <p:nvPr/>
          </p:nvSpPr>
          <p:spPr>
            <a:xfrm>
              <a:off x="4214561" y="2383437"/>
              <a:ext cx="1321748" cy="46469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FE339DAE-C284-B473-976C-C478831D802C}"/>
              </a:ext>
            </a:extLst>
          </p:cNvPr>
          <p:cNvSpPr txBox="1"/>
          <p:nvPr/>
        </p:nvSpPr>
        <p:spPr>
          <a:xfrm>
            <a:off x="9246829" y="3573293"/>
            <a:ext cx="3525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474747"/>
                </a:solidFill>
                <a:effectLst/>
                <a:latin typeface="Google Sans"/>
              </a:rPr>
              <a:t>✅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14F424-BA31-1796-EA76-D1965CA29F20}"/>
              </a:ext>
            </a:extLst>
          </p:cNvPr>
          <p:cNvSpPr txBox="1"/>
          <p:nvPr/>
        </p:nvSpPr>
        <p:spPr>
          <a:xfrm>
            <a:off x="11385324" y="3566893"/>
            <a:ext cx="3525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474747"/>
                </a:solidFill>
                <a:effectLst/>
                <a:latin typeface="Google Sans"/>
              </a:rPr>
              <a:t>✅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25D73A-2C01-B84A-0EA4-83AF05888A55}"/>
              </a:ext>
            </a:extLst>
          </p:cNvPr>
          <p:cNvSpPr txBox="1"/>
          <p:nvPr/>
        </p:nvSpPr>
        <p:spPr>
          <a:xfrm>
            <a:off x="10179864" y="3573292"/>
            <a:ext cx="3525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❌</a:t>
            </a:r>
          </a:p>
        </p:txBody>
      </p:sp>
      <p:sp>
        <p:nvSpPr>
          <p:cNvPr id="30" name="Lightning Bolt 29">
            <a:extLst>
              <a:ext uri="{FF2B5EF4-FFF2-40B4-BE49-F238E27FC236}">
                <a16:creationId xmlns:a16="http://schemas.microsoft.com/office/drawing/2014/main" id="{05AECE9C-E88F-689E-4925-5131B76FE277}"/>
              </a:ext>
            </a:extLst>
          </p:cNvPr>
          <p:cNvSpPr/>
          <p:nvPr/>
        </p:nvSpPr>
        <p:spPr>
          <a:xfrm rot="19910345" flipH="1">
            <a:off x="10074992" y="2994995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1CD91A-43D8-7911-074B-311380B5A5BB}"/>
              </a:ext>
            </a:extLst>
          </p:cNvPr>
          <p:cNvSpPr txBox="1"/>
          <p:nvPr/>
        </p:nvSpPr>
        <p:spPr>
          <a:xfrm>
            <a:off x="482309" y="2443881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Missense Variants</a:t>
            </a:r>
          </a:p>
        </p:txBody>
      </p:sp>
      <p:sp>
        <p:nvSpPr>
          <p:cNvPr id="37" name="Triangle 36">
            <a:extLst>
              <a:ext uri="{FF2B5EF4-FFF2-40B4-BE49-F238E27FC236}">
                <a16:creationId xmlns:a16="http://schemas.microsoft.com/office/drawing/2014/main" id="{4298125A-0DAF-A29B-5E97-4FA86F906EC0}"/>
              </a:ext>
            </a:extLst>
          </p:cNvPr>
          <p:cNvSpPr/>
          <p:nvPr/>
        </p:nvSpPr>
        <p:spPr>
          <a:xfrm rot="10800000">
            <a:off x="518130" y="3757958"/>
            <a:ext cx="3688110" cy="493256"/>
          </a:xfrm>
          <a:prstGeom prst="triangle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0DEF340A-3B25-77C6-1B8F-AD1E7DDB33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585717"/>
              </p:ext>
            </p:extLst>
          </p:nvPr>
        </p:nvGraphicFramePr>
        <p:xfrm>
          <a:off x="518131" y="3284708"/>
          <a:ext cx="3688110" cy="36576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506285589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30299700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65177776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4753026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573124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902588092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898243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AD74C262-DAAD-C4B3-5790-4F30BE49E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2290825"/>
              </p:ext>
            </p:extLst>
          </p:nvPr>
        </p:nvGraphicFramePr>
        <p:xfrm>
          <a:off x="518130" y="4228475"/>
          <a:ext cx="3688110" cy="3657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506285589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30299700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65177776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4753026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573124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902588092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</a:t>
                      </a:r>
                      <a:endParaRPr 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</a:t>
                      </a:r>
                      <a:endParaRPr 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L</a:t>
                      </a:r>
                      <a:endParaRPr lang="en-US" b="1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G</a:t>
                      </a:r>
                      <a:endParaRPr 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898243"/>
                  </a:ext>
                </a:extLst>
              </a:tr>
            </a:tbl>
          </a:graphicData>
        </a:graphic>
      </p:graphicFrame>
      <p:sp>
        <p:nvSpPr>
          <p:cNvPr id="40" name="Triangle 39">
            <a:extLst>
              <a:ext uri="{FF2B5EF4-FFF2-40B4-BE49-F238E27FC236}">
                <a16:creationId xmlns:a16="http://schemas.microsoft.com/office/drawing/2014/main" id="{6B32B20A-A92D-62FE-76E1-C3722CAB2F9E}"/>
              </a:ext>
            </a:extLst>
          </p:cNvPr>
          <p:cNvSpPr/>
          <p:nvPr/>
        </p:nvSpPr>
        <p:spPr>
          <a:xfrm rot="10800000">
            <a:off x="4498059" y="3757958"/>
            <a:ext cx="3478340" cy="493256"/>
          </a:xfrm>
          <a:prstGeom prst="triangle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F2088E0-682B-C952-97E2-72D75D78DAE6}"/>
              </a:ext>
            </a:extLst>
          </p:cNvPr>
          <p:cNvGrpSpPr/>
          <p:nvPr/>
        </p:nvGrpSpPr>
        <p:grpSpPr>
          <a:xfrm>
            <a:off x="4540656" y="3300129"/>
            <a:ext cx="3478340" cy="243431"/>
            <a:chOff x="2113613" y="2372209"/>
            <a:chExt cx="5850173" cy="475923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470D21E-B880-1EE5-27EE-4A9D0B124637}"/>
                </a:ext>
              </a:extLst>
            </p:cNvPr>
            <p:cNvCxnSpPr>
              <a:cxnSpLocks/>
            </p:cNvCxnSpPr>
            <p:nvPr/>
          </p:nvCxnSpPr>
          <p:spPr>
            <a:xfrm>
              <a:off x="2113613" y="2615784"/>
              <a:ext cx="58501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DF0BD0A-2374-2438-43EA-308707B50749}"/>
                </a:ext>
              </a:extLst>
            </p:cNvPr>
            <p:cNvSpPr/>
            <p:nvPr/>
          </p:nvSpPr>
          <p:spPr>
            <a:xfrm>
              <a:off x="5992077" y="2372209"/>
              <a:ext cx="163905" cy="46469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BFA33D5-50FA-0699-F67E-1ED36A1911A6}"/>
                </a:ext>
              </a:extLst>
            </p:cNvPr>
            <p:cNvSpPr/>
            <p:nvPr/>
          </p:nvSpPr>
          <p:spPr>
            <a:xfrm>
              <a:off x="6967026" y="2383437"/>
              <a:ext cx="88311" cy="464695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C58861D-AF80-6D1E-E026-A92279BBBB9C}"/>
                </a:ext>
              </a:extLst>
            </p:cNvPr>
            <p:cNvSpPr/>
            <p:nvPr/>
          </p:nvSpPr>
          <p:spPr>
            <a:xfrm>
              <a:off x="7484447" y="2383437"/>
              <a:ext cx="163905" cy="46469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A4E72A0-DE04-ED4E-EFAE-2886ED2ACD5B}"/>
                </a:ext>
              </a:extLst>
            </p:cNvPr>
            <p:cNvSpPr/>
            <p:nvPr/>
          </p:nvSpPr>
          <p:spPr>
            <a:xfrm>
              <a:off x="3120241" y="2513789"/>
              <a:ext cx="2271241" cy="21209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BAFB3738-B28F-90C6-B05D-23788B98C5E1}"/>
              </a:ext>
            </a:extLst>
          </p:cNvPr>
          <p:cNvSpPr txBox="1"/>
          <p:nvPr/>
        </p:nvSpPr>
        <p:spPr>
          <a:xfrm>
            <a:off x="4781300" y="2464322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UTR Variants</a:t>
            </a:r>
          </a:p>
        </p:txBody>
      </p:sp>
      <p:sp>
        <p:nvSpPr>
          <p:cNvPr id="53" name="Lightning Bolt 52">
            <a:extLst>
              <a:ext uri="{FF2B5EF4-FFF2-40B4-BE49-F238E27FC236}">
                <a16:creationId xmlns:a16="http://schemas.microsoft.com/office/drawing/2014/main" id="{3CDF2278-76D3-27C6-8682-1266EB978A43}"/>
              </a:ext>
            </a:extLst>
          </p:cNvPr>
          <p:cNvSpPr/>
          <p:nvPr/>
        </p:nvSpPr>
        <p:spPr>
          <a:xfrm rot="19910345" flipH="1">
            <a:off x="6212463" y="3047018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FEEF92A0-5571-6E73-A464-B9CB7AAA0E50}"/>
              </a:ext>
            </a:extLst>
          </p:cNvPr>
          <p:cNvSpPr/>
          <p:nvPr/>
        </p:nvSpPr>
        <p:spPr>
          <a:xfrm>
            <a:off x="205100" y="2808928"/>
            <a:ext cx="4170116" cy="25834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4D3E16AF-700A-BC96-6875-BD68C4AA98BD}"/>
              </a:ext>
            </a:extLst>
          </p:cNvPr>
          <p:cNvSpPr/>
          <p:nvPr/>
        </p:nvSpPr>
        <p:spPr>
          <a:xfrm>
            <a:off x="4442457" y="2808928"/>
            <a:ext cx="4170116" cy="25834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84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363</Words>
  <Application>Microsoft Macintosh PowerPoint</Application>
  <PresentationFormat>Widescreen</PresentationFormat>
  <Paragraphs>236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Schilder, Brian</dc:creator>
  <cp:lastModifiedBy>Schilder, Brian</cp:lastModifiedBy>
  <cp:revision>11</cp:revision>
  <dcterms:created xsi:type="dcterms:W3CDTF">2025-08-17T22:31:53Z</dcterms:created>
  <dcterms:modified xsi:type="dcterms:W3CDTF">2025-10-02T15:57:33Z</dcterms:modified>
</cp:coreProperties>
</file>